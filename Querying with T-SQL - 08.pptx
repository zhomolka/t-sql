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commentAuthors.xml" ContentType="application/vnd.openxmlformats-officedocument.presentationml.commentAuth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17"/>
  </p:notesMasterIdLst>
  <p:handoutMasterIdLst>
    <p:handoutMasterId r:id="rId18"/>
  </p:handoutMasterIdLst>
  <p:sldIdLst>
    <p:sldId id="277" r:id="rId5"/>
    <p:sldId id="278" r:id="rId6"/>
    <p:sldId id="280" r:id="rId7"/>
    <p:sldId id="285" r:id="rId8"/>
    <p:sldId id="281" r:id="rId9"/>
    <p:sldId id="282" r:id="rId10"/>
    <p:sldId id="286" r:id="rId11"/>
    <p:sldId id="283" r:id="rId12"/>
    <p:sldId id="284" r:id="rId13"/>
    <p:sldId id="287" r:id="rId14"/>
    <p:sldId id="279"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50"/>
    <a:srgbClr val="007233"/>
    <a:srgbClr val="86C400"/>
    <a:srgbClr val="82BF36"/>
    <a:srgbClr val="7FBA00"/>
    <a:srgbClr val="1F497D"/>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91" autoAdjust="0"/>
    <p:restoredTop sz="94660"/>
  </p:normalViewPr>
  <p:slideViewPr>
    <p:cSldViewPr snapToGrid="0">
      <p:cViewPr varScale="1">
        <p:scale>
          <a:sx n="84" d="100"/>
          <a:sy n="84" d="100"/>
        </p:scale>
        <p:origin x="-67" y="19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796" y="42"/>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2E7B4A-039C-48A2-9B2C-AF16AA3873D8}" type="datetimeFigureOut">
              <a:rPr lang="en-US" smtClean="0"/>
              <a:pPr/>
              <a:t>6/3/2015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5FCDD8-505C-48BF-B1E5-CD9B258934D2}" type="slidenum">
              <a:rPr lang="en-US" smtClean="0"/>
              <a:pPr/>
              <a:t>‹#›</a:t>
            </a:fld>
            <a:endParaRPr lang="en-US"/>
          </a:p>
        </p:txBody>
      </p:sp>
    </p:spTree>
    <p:extLst>
      <p:ext uri="{BB962C8B-B14F-4D97-AF65-F5344CB8AC3E}">
        <p14:creationId xmlns:p14="http://schemas.microsoft.com/office/powerpoint/2010/main" xmlns="" val="1781922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05A0C-54D9-45AA-87D4-C551D08DFCE1}" type="datetimeFigureOut">
              <a:rPr lang="en-US" smtClean="0"/>
              <a:pPr/>
              <a:t>6/3/2015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D207A-07DF-40AD-A916-9872E089CE7A}" type="slidenum">
              <a:rPr lang="en-US" smtClean="0"/>
              <a:pPr/>
              <a:t>‹#›</a:t>
            </a:fld>
            <a:endParaRPr lang="en-US"/>
          </a:p>
        </p:txBody>
      </p:sp>
    </p:spTree>
    <p:extLst>
      <p:ext uri="{BB962C8B-B14F-4D97-AF65-F5344CB8AC3E}">
        <p14:creationId xmlns:p14="http://schemas.microsoft.com/office/powerpoint/2010/main" xmlns="" val="129571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1</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1088711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xmlns="" val="1542757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11</a:t>
            </a:fld>
            <a:endParaRPr lang="en-US" dirty="0"/>
          </a:p>
        </p:txBody>
      </p:sp>
    </p:spTree>
    <p:extLst>
      <p:ext uri="{BB962C8B-B14F-4D97-AF65-F5344CB8AC3E}">
        <p14:creationId xmlns:p14="http://schemas.microsoft.com/office/powerpoint/2010/main" xmlns="" val="22229688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271" y="5132437"/>
            <a:ext cx="8579886"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
        <p:nvSpPr>
          <p:cNvPr id="10" name="Title 1"/>
          <p:cNvSpPr>
            <a:spLocks noGrp="1"/>
          </p:cNvSpPr>
          <p:nvPr>
            <p:ph type="ctrTitle" hasCustomPrompt="1"/>
          </p:nvPr>
        </p:nvSpPr>
        <p:spPr>
          <a:xfrm>
            <a:off x="193271" y="2415641"/>
            <a:ext cx="8579886" cy="2603307"/>
          </a:xfrm>
          <a:prstGeom prst="rect">
            <a:avLst/>
          </a:prstGeom>
          <a:solidFill>
            <a:srgbClr val="007233"/>
          </a:solidFill>
          <a:effectLst/>
        </p:spPr>
        <p:txBody>
          <a:bodyPr vert="horz" lIns="137160" tIns="137160" rIns="91409" bIns="137160" rtlCol="0" anchor="b" anchorCtr="0">
            <a:noAutofit/>
          </a:bodyPr>
          <a:lstStyle>
            <a:lvl1pPr>
              <a:defRPr lang="en-US" sz="4800" kern="0" dirty="0">
                <a:ln w="3175">
                  <a:noFill/>
                </a:ln>
                <a:gradFill flip="none" rotWithShape="1">
                  <a:gsLst>
                    <a:gs pos="4583">
                      <a:srgbClr val="FFFFFF"/>
                    </a:gs>
                    <a:gs pos="100000">
                      <a:srgbClr val="FFFFFF"/>
                    </a:gs>
                  </a:gsLst>
                  <a:lin ang="5400000" scaled="0"/>
                  <a:tileRect/>
                </a:gradFill>
              </a:defRPr>
            </a:lvl1pPr>
          </a:lstStyle>
          <a:p>
            <a:pPr lvl="0"/>
            <a:r>
              <a:rPr lang="en-US" dirty="0" smtClean="0"/>
              <a:t>Course title style</a:t>
            </a:r>
            <a:endParaRPr lang="en-US" dirty="0"/>
          </a:p>
        </p:txBody>
      </p:sp>
      <p:sp>
        <p:nvSpPr>
          <p:cNvPr id="8" name="top right small rectangle"/>
          <p:cNvSpPr/>
          <p:nvPr userDrawn="1"/>
        </p:nvSpPr>
        <p:spPr bwMode="auto">
          <a:xfrm>
            <a:off x="8902492" y="2418735"/>
            <a:ext cx="3087947" cy="2600214"/>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37160" tIns="137160" rIns="137160" bIns="137160" numCol="1" rtlCol="0" anchor="b" anchorCtr="0" compatLnSpc="1">
            <a:prstTxWarp prst="textNoShape">
              <a:avLst/>
            </a:prstTxWarp>
          </a:bodyPr>
          <a:lstStyle/>
          <a:p>
            <a:pPr defTabSz="913788" fontAlgn="base">
              <a:spcBef>
                <a:spcPct val="0"/>
              </a:spcBef>
              <a:spcAft>
                <a:spcPct val="0"/>
              </a:spcAft>
            </a:pPr>
            <a:endParaRPr lang="en-US" sz="2000" dirty="0">
              <a:gradFill>
                <a:gsLst>
                  <a:gs pos="0">
                    <a:srgbClr val="FFFFFF"/>
                  </a:gs>
                  <a:gs pos="100000">
                    <a:srgbClr val="FFFFFF"/>
                  </a:gs>
                </a:gsLst>
                <a:lin ang="5400000" scaled="0"/>
              </a:gradFill>
              <a:latin typeface="Segoe UI Light" panose="020B0502040204020203" pitchFamily="34" charset="0"/>
              <a:cs typeface="Segoe UI Light" panose="020B0502040204020203" pitchFamily="34" charset="0"/>
            </a:endParaRP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l="9720" t="16544" r="7275" b="16691"/>
          <a:stretch/>
        </p:blipFill>
        <p:spPr>
          <a:xfrm>
            <a:off x="10731799" y="4630992"/>
            <a:ext cx="1131688" cy="334740"/>
          </a:xfrm>
          <a:prstGeom prst="rect">
            <a:avLst/>
          </a:prstGeom>
        </p:spPr>
      </p:pic>
    </p:spTree>
    <p:extLst>
      <p:ext uri="{BB962C8B-B14F-4D97-AF65-F5344CB8AC3E}">
        <p14:creationId xmlns:p14="http://schemas.microsoft.com/office/powerpoint/2010/main" xmlns="" val="942519667"/>
      </p:ext>
    </p:extLst>
  </p:cSld>
  <p:clrMapOvr>
    <a:masterClrMapping/>
  </p:clrMapOvr>
  <p:timing>
    <p:tnLst>
      <p:par>
        <p:cTn id="1" dur="indefinite" restart="never" nodeType="tmRoot"/>
      </p:par>
    </p:tnLst>
  </p:timing>
  <p:extLst mod="1">
    <p:ext uri="{DCECCB84-F9BA-43D5-87BE-67443E8EF086}">
      <p15:sldGuideLst xmlns:p15="http://schemas.microsoft.com/office/powerpoint/2012/main" xmlns="">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Subtitle 2"/>
          <p:cNvSpPr txBox="1">
            <a:spLocks/>
          </p:cNvSpPr>
          <p:nvPr userDrawn="1"/>
        </p:nvSpPr>
        <p:spPr>
          <a:xfrm>
            <a:off x="8738733" y="2685050"/>
            <a:ext cx="2241224" cy="2355337"/>
          </a:xfrm>
          <a:prstGeom prst="rect">
            <a:avLst/>
          </a:prstGeom>
        </p:spPr>
        <p:txBody>
          <a:bodyPr vert="horz" lIns="91409" tIns="45705" rIns="91409" bIns="45705" rtlCol="0" anchor="ctr" anchorCtr="0">
            <a:normAutofit/>
          </a:bodyPr>
          <a:lstStyle>
            <a:lvl1pPr marL="0" indent="0" algn="l" defTabSz="914052" rtl="0" eaLnBrk="1" latinLnBrk="0" hangingPunct="1">
              <a:lnSpc>
                <a:spcPct val="100000"/>
              </a:lnSpc>
              <a:spcBef>
                <a:spcPts val="0"/>
              </a:spcBef>
              <a:buSzPct val="90000"/>
              <a:buFont typeface="Arial" pitchFamily="34" charset="0"/>
              <a:buNone/>
              <a:defRPr lang="en-US" sz="1800" b="1" kern="1200" spc="-30" baseline="0" dirty="0">
                <a:gradFill>
                  <a:gsLst>
                    <a:gs pos="1250">
                      <a:srgbClr val="FFFFFF"/>
                    </a:gs>
                    <a:gs pos="6250">
                      <a:srgbClr val="FFFFFF"/>
                    </a:gs>
                  </a:gsLst>
                  <a:lin ang="5400000" scaled="0"/>
                </a:gradFill>
                <a:latin typeface="Segoe UI" pitchFamily="34" charset="0"/>
                <a:ea typeface="Segoe UI" pitchFamily="34" charset="0"/>
                <a:cs typeface="Segoe UI" pitchFamily="34" charset="0"/>
              </a:defRPr>
            </a:lvl1pPr>
            <a:lvl2pPr marL="457044" indent="0" algn="ctr" defTabSz="914088" rtl="0" eaLnBrk="1" latinLnBrk="0" hangingPunct="1">
              <a:spcBef>
                <a:spcPts val="300"/>
              </a:spcBef>
              <a:spcAft>
                <a:spcPts val="300"/>
              </a:spcAft>
              <a:buFont typeface="Arial" pitchFamily="34" charset="0"/>
              <a:buNone/>
              <a:defRPr sz="2800" kern="1200">
                <a:solidFill>
                  <a:schemeClr val="tx1">
                    <a:tint val="75000"/>
                  </a:schemeClr>
                </a:solidFill>
                <a:latin typeface="Segoe UI" pitchFamily="34" charset="0"/>
                <a:ea typeface="Segoe UI" pitchFamily="34" charset="0"/>
                <a:cs typeface="Segoe UI" pitchFamily="34" charset="0"/>
              </a:defRPr>
            </a:lvl2pPr>
            <a:lvl3pPr marL="914088" indent="0" algn="ctr" defTabSz="914088" rtl="0" eaLnBrk="1" latinLnBrk="0" hangingPunct="1">
              <a:spcBef>
                <a:spcPts val="200"/>
              </a:spcBef>
              <a:spcAft>
                <a:spcPts val="200"/>
              </a:spcAft>
              <a:buFont typeface="Arial" pitchFamily="34" charset="0"/>
              <a:buNone/>
              <a:defRPr sz="2400" kern="1200">
                <a:solidFill>
                  <a:schemeClr val="tx1">
                    <a:tint val="75000"/>
                  </a:schemeClr>
                </a:solidFill>
                <a:latin typeface="Segoe UI" pitchFamily="34" charset="0"/>
                <a:ea typeface="Segoe UI" pitchFamily="34" charset="0"/>
                <a:cs typeface="Segoe UI" pitchFamily="34" charset="0"/>
              </a:defRPr>
            </a:lvl3pPr>
            <a:lvl4pPr marL="1371133"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4pPr>
            <a:lvl5pPr marL="1828178"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5pPr>
            <a:lvl6pPr marL="2285222"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2267"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199311"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6358"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mtClean="0"/>
              <a:t>Click to edit Master subtitle style</a:t>
            </a:r>
            <a:endParaRPr lang="en-US"/>
          </a:p>
        </p:txBody>
      </p:sp>
      <p:sp>
        <p:nvSpPr>
          <p:cNvPr id="13" name="Title 1"/>
          <p:cNvSpPr txBox="1">
            <a:spLocks/>
          </p:cNvSpPr>
          <p:nvPr userDrawn="1"/>
        </p:nvSpPr>
        <p:spPr>
          <a:xfrm>
            <a:off x="193271" y="3376350"/>
            <a:ext cx="8409867" cy="1692617"/>
          </a:xfrm>
          <a:prstGeom prst="rect">
            <a:avLst/>
          </a:prstGeom>
          <a:solidFill>
            <a:srgbClr val="007233"/>
          </a:solidFill>
          <a:effectLst/>
        </p:spPr>
        <p:txBody>
          <a:bodyPr vert="horz" lIns="137160" tIns="137160" rIns="91409" bIns="137160" rtlCol="0" anchor="b" anchorCtr="0">
            <a:noAutofit/>
          </a:bodyPr>
          <a:lstStyle>
            <a:lvl1pPr algn="l" defTabSz="914088" rtl="0" eaLnBrk="1" latinLnBrk="0" hangingPunct="1">
              <a:spcBef>
                <a:spcPct val="0"/>
              </a:spcBef>
              <a:buNone/>
              <a:defRPr lang="en-US" sz="4000" kern="0" dirty="0">
                <a:ln w="3175">
                  <a:noFill/>
                </a:ln>
                <a:gradFill flip="none" rotWithShape="1">
                  <a:gsLst>
                    <a:gs pos="4583">
                      <a:srgbClr val="FFFFFF"/>
                    </a:gs>
                    <a:gs pos="100000">
                      <a:srgbClr val="FFFFFF"/>
                    </a:gs>
                  </a:gsLst>
                  <a:lin ang="5400000" scaled="0"/>
                  <a:tileRect/>
                </a:gradFill>
                <a:latin typeface="Segoe UI" pitchFamily="34" charset="0"/>
                <a:ea typeface="Segoe UI" pitchFamily="34" charset="0"/>
                <a:cs typeface="Segoe UI" pitchFamily="34" charset="0"/>
              </a:defRPr>
            </a:lvl1pPr>
          </a:lstStyle>
          <a:p>
            <a:endParaRPr lang="en-US" sz="4000" dirty="0"/>
          </a:p>
        </p:txBody>
      </p:sp>
      <p:sp>
        <p:nvSpPr>
          <p:cNvPr id="14" name="top right small rectangle"/>
          <p:cNvSpPr/>
          <p:nvPr userDrawn="1"/>
        </p:nvSpPr>
        <p:spPr bwMode="auto">
          <a:xfrm>
            <a:off x="8682790" y="3374967"/>
            <a:ext cx="3257419" cy="1694322"/>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l="9720" t="16544" r="7275" b="16691"/>
          <a:stretch/>
        </p:blipFill>
        <p:spPr>
          <a:xfrm>
            <a:off x="11181757" y="4821401"/>
            <a:ext cx="740346" cy="218986"/>
          </a:xfrm>
          <a:prstGeom prst="rect">
            <a:avLst/>
          </a:prstGeom>
        </p:spPr>
      </p:pic>
      <p:sp>
        <p:nvSpPr>
          <p:cNvPr id="16" name="Text Placeholder 10"/>
          <p:cNvSpPr>
            <a:spLocks noGrp="1"/>
          </p:cNvSpPr>
          <p:nvPr>
            <p:ph type="body" sz="quarter" idx="10" hasCustomPrompt="1"/>
          </p:nvPr>
        </p:nvSpPr>
        <p:spPr>
          <a:xfrm>
            <a:off x="292101" y="3466407"/>
            <a:ext cx="8215796" cy="1485524"/>
          </a:xfrm>
          <a:prstGeom prst="rect">
            <a:avLst/>
          </a:prstGeom>
        </p:spPr>
        <p:txBody>
          <a:bodyPr anchor="b" anchorCtr="0">
            <a:normAutofit/>
          </a:bodyPr>
          <a:lstStyle>
            <a:lvl1pPr marL="0" indent="0">
              <a:buNone/>
              <a:defRPr sz="3600" b="0" baseline="0">
                <a:solidFill>
                  <a:schemeClr val="bg1"/>
                </a:solidFill>
                <a:latin typeface="Segoe UI Light" panose="020B0502040204020203" pitchFamily="34" charset="0"/>
                <a:cs typeface="Segoe UI Light" panose="020B0502040204020203" pitchFamily="34" charset="0"/>
              </a:defRPr>
            </a:lvl1pPr>
          </a:lstStyle>
          <a:p>
            <a:pPr lvl="0"/>
            <a:r>
              <a:rPr lang="en-US" dirty="0" smtClean="0"/>
              <a:t>Module or Section transition style</a:t>
            </a:r>
          </a:p>
        </p:txBody>
      </p:sp>
      <p:sp>
        <p:nvSpPr>
          <p:cNvPr id="11" name="Subtitle 2"/>
          <p:cNvSpPr>
            <a:spLocks noGrp="1"/>
          </p:cNvSpPr>
          <p:nvPr>
            <p:ph type="subTitle" idx="1"/>
          </p:nvPr>
        </p:nvSpPr>
        <p:spPr>
          <a:xfrm>
            <a:off x="193271" y="5132437"/>
            <a:ext cx="8409867"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xmlns="" val="3891348690"/>
      </p:ext>
    </p:extLst>
  </p:cSld>
  <p:clrMapOvr>
    <a:masterClrMapping/>
  </p:clrMapOvr>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8232600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Click to edit Master title style</a:t>
            </a:r>
            <a:endParaRPr lang="en-US" dirty="0"/>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xmlns="" val="160774583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1994614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9511" y="1330656"/>
            <a:ext cx="5616915" cy="639762"/>
          </a:xfrm>
          <a:prstGeom prst="rect">
            <a:avLst/>
          </a:prstGeom>
          <a:solidFill>
            <a:srgbClr val="86C400"/>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379511" y="1981200"/>
            <a:ext cx="5616915"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345807" y="1330656"/>
            <a:ext cx="5619121" cy="639762"/>
          </a:xfrm>
          <a:prstGeom prst="rect">
            <a:avLst/>
          </a:prstGeom>
          <a:solidFill>
            <a:srgbClr val="1F497D"/>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345807" y="1981200"/>
            <a:ext cx="5619121"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66902160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6783989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72854126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0" y="0"/>
            <a:ext cx="12192000" cy="6858000"/>
          </a:xfrm>
          <a:prstGeom prst="rect">
            <a:avLst/>
          </a:prstGeom>
          <a:solidFill>
            <a:srgbClr val="002050"/>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2"/>
          <p:cNvSpPr>
            <a:spLocks noChangeArrowheads="1"/>
          </p:cNvSpPr>
          <p:nvPr userDrawn="1"/>
        </p:nvSpPr>
        <p:spPr bwMode="auto">
          <a:xfrm>
            <a:off x="530087" y="5960743"/>
            <a:ext cx="11078818" cy="738664"/>
          </a:xfrm>
          <a:prstGeom prst="rect">
            <a:avLst/>
          </a:prstGeom>
          <a:noFill/>
          <a:ln w="9525">
            <a:noFill/>
            <a:miter lim="800000"/>
            <a:headEnd/>
            <a:tailEnd/>
          </a:ln>
        </p:spPr>
        <p:txBody>
          <a:bodyPr wrap="square">
            <a:spAutoFit/>
          </a:bodyPr>
          <a:lstStyle/>
          <a:p>
            <a:pPr marL="0" lvl="1" defTabSz="914088">
              <a:defRPr/>
            </a:pPr>
            <a:r>
              <a:rPr lang="en-US" sz="1050" dirty="0">
                <a:solidFill>
                  <a:schemeClr val="bg1">
                    <a:lumMod val="85000"/>
                  </a:schemeClr>
                </a:solidFill>
              </a:rPr>
              <a:t>©</a:t>
            </a:r>
            <a:r>
              <a:rPr lang="en-US" sz="1050" dirty="0" smtClean="0">
                <a:solidFill>
                  <a:schemeClr val="bg1">
                    <a:lumMod val="85000"/>
                  </a:schemeClr>
                </a:solidFill>
              </a:rPr>
              <a:t>2014 </a:t>
            </a:r>
            <a:r>
              <a:rPr lang="en-US" sz="1050" dirty="0">
                <a:solidFill>
                  <a:schemeClr val="bg1">
                    <a:lumMod val="85000"/>
                  </a:schemeClr>
                </a:solidFill>
              </a:rPr>
              <a:t>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l="9719"/>
          <a:stretch/>
        </p:blipFill>
        <p:spPr>
          <a:xfrm>
            <a:off x="530087" y="2940117"/>
            <a:ext cx="5473148" cy="2229412"/>
          </a:xfrm>
          <a:prstGeom prst="rect">
            <a:avLst/>
          </a:prstGeom>
        </p:spPr>
      </p:pic>
    </p:spTree>
    <p:extLst>
      <p:ext uri="{BB962C8B-B14F-4D97-AF65-F5344CB8AC3E}">
        <p14:creationId xmlns:p14="http://schemas.microsoft.com/office/powerpoint/2010/main" xmlns="" val="266783722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379514" y="182215"/>
            <a:ext cx="11524432" cy="1063487"/>
          </a:xfrm>
          <a:prstGeom prst="rect">
            <a:avLst/>
          </a:prstGeom>
        </p:spPr>
        <p:txBody>
          <a:bodyPr vert="horz" lIns="91409" tIns="45705" rIns="91409" bIns="45705" rtlCol="0" anchor="t" anchorCtr="0">
            <a:normAutofit/>
          </a:bodyPr>
          <a:lstStyle/>
          <a:p>
            <a:r>
              <a:rPr lang="en-US" dirty="0" smtClean="0"/>
              <a:t>Click to edit Master title style</a:t>
            </a:r>
            <a:endParaRPr lang="en-US" dirty="0"/>
          </a:p>
        </p:txBody>
      </p:sp>
    </p:spTree>
    <p:extLst>
      <p:ext uri="{BB962C8B-B14F-4D97-AF65-F5344CB8AC3E}">
        <p14:creationId xmlns:p14="http://schemas.microsoft.com/office/powerpoint/2010/main" xmlns="" val="3118783959"/>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67" r:id="rId3"/>
    <p:sldLayoutId id="2147483663" r:id="rId4"/>
    <p:sldLayoutId id="2147483664" r:id="rId5"/>
    <p:sldLayoutId id="2147483665" r:id="rId6"/>
    <p:sldLayoutId id="2147483666" r:id="rId7"/>
    <p:sldLayoutId id="2147483668" r:id="rId8"/>
    <p:sldLayoutId id="2147483669" r:id="rId9"/>
  </p:sldLayoutIdLst>
  <p:timing>
    <p:tnLst>
      <p:par>
        <p:cTn id="1" dur="indefinite" restart="never" nodeType="tmRoot"/>
      </p:par>
    </p:tnLst>
  </p:timing>
  <p:txStyles>
    <p:titleStyle>
      <a:lvl1pPr algn="l" defTabSz="914088" rtl="0" eaLnBrk="1" latinLnBrk="0" hangingPunct="1">
        <a:lnSpc>
          <a:spcPct val="80000"/>
        </a:lnSpc>
        <a:spcBef>
          <a:spcPct val="0"/>
        </a:spcBef>
        <a:buNone/>
        <a:defRPr sz="4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p:titleStyle>
    <p:bodyStyle>
      <a:lvl1pPr marL="342783" indent="-342783" algn="l" defTabSz="914088" rtl="0" eaLnBrk="1" latinLnBrk="0" hangingPunct="1">
        <a:spcBef>
          <a:spcPts val="1200"/>
        </a:spcBef>
        <a:buFont typeface="Arial" pitchFamily="34" charset="0"/>
        <a:buChar char="•"/>
        <a:defRPr sz="3200" b="1"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88" rtl="0" eaLnBrk="1" latinLnBrk="0" hangingPunct="1">
        <a:defRPr sz="1800" kern="1200">
          <a:solidFill>
            <a:schemeClr val="tx1"/>
          </a:solidFill>
          <a:latin typeface="+mn-lt"/>
          <a:ea typeface="+mn-ea"/>
          <a:cs typeface="+mn-cs"/>
        </a:defRPr>
      </a:lvl1pPr>
      <a:lvl2pPr marL="457044" algn="l" defTabSz="914088" rtl="0" eaLnBrk="1" latinLnBrk="0" hangingPunct="1">
        <a:defRPr sz="1800" kern="1200">
          <a:solidFill>
            <a:schemeClr val="tx1"/>
          </a:solidFill>
          <a:latin typeface="+mn-lt"/>
          <a:ea typeface="+mn-ea"/>
          <a:cs typeface="+mn-cs"/>
        </a:defRPr>
      </a:lvl2pPr>
      <a:lvl3pPr marL="914088" algn="l" defTabSz="914088" rtl="0" eaLnBrk="1" latinLnBrk="0" hangingPunct="1">
        <a:defRPr sz="1800" kern="1200">
          <a:solidFill>
            <a:schemeClr val="tx1"/>
          </a:solidFill>
          <a:latin typeface="+mn-lt"/>
          <a:ea typeface="+mn-ea"/>
          <a:cs typeface="+mn-cs"/>
        </a:defRPr>
      </a:lvl3pPr>
      <a:lvl4pPr marL="1371133" algn="l" defTabSz="914088" rtl="0" eaLnBrk="1" latinLnBrk="0" hangingPunct="1">
        <a:defRPr sz="1800" kern="1200">
          <a:solidFill>
            <a:schemeClr val="tx1"/>
          </a:solidFill>
          <a:latin typeface="+mn-lt"/>
          <a:ea typeface="+mn-ea"/>
          <a:cs typeface="+mn-cs"/>
        </a:defRPr>
      </a:lvl4pPr>
      <a:lvl5pPr marL="1828178" algn="l" defTabSz="914088" rtl="0" eaLnBrk="1" latinLnBrk="0" hangingPunct="1">
        <a:defRPr sz="1800" kern="1200">
          <a:solidFill>
            <a:schemeClr val="tx1"/>
          </a:solidFill>
          <a:latin typeface="+mn-lt"/>
          <a:ea typeface="+mn-ea"/>
          <a:cs typeface="+mn-cs"/>
        </a:defRPr>
      </a:lvl5pPr>
      <a:lvl6pPr marL="2285222" algn="l" defTabSz="914088" rtl="0" eaLnBrk="1" latinLnBrk="0" hangingPunct="1">
        <a:defRPr sz="1800" kern="1200">
          <a:solidFill>
            <a:schemeClr val="tx1"/>
          </a:solidFill>
          <a:latin typeface="+mn-lt"/>
          <a:ea typeface="+mn-ea"/>
          <a:cs typeface="+mn-cs"/>
        </a:defRPr>
      </a:lvl6pPr>
      <a:lvl7pPr marL="2742267" algn="l" defTabSz="914088" rtl="0" eaLnBrk="1" latinLnBrk="0" hangingPunct="1">
        <a:defRPr sz="1800" kern="1200">
          <a:solidFill>
            <a:schemeClr val="tx1"/>
          </a:solidFill>
          <a:latin typeface="+mn-lt"/>
          <a:ea typeface="+mn-ea"/>
          <a:cs typeface="+mn-cs"/>
        </a:defRPr>
      </a:lvl7pPr>
      <a:lvl8pPr marL="3199311" algn="l" defTabSz="914088" rtl="0" eaLnBrk="1" latinLnBrk="0" hangingPunct="1">
        <a:defRPr sz="1800" kern="1200">
          <a:solidFill>
            <a:schemeClr val="tx1"/>
          </a:solidFill>
          <a:latin typeface="+mn-lt"/>
          <a:ea typeface="+mn-ea"/>
          <a:cs typeface="+mn-cs"/>
        </a:defRPr>
      </a:lvl8pPr>
      <a:lvl9pPr marL="3656358" algn="l" defTabSz="9140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solidFill>
            <a:srgbClr val="007233"/>
          </a:solidFill>
          <a:ln>
            <a:noFill/>
          </a:ln>
        </p:spPr>
        <p:txBody>
          <a:bodyPr/>
          <a:lstStyle/>
          <a:p>
            <a:pPr marL="914400" indent="-914400"/>
            <a:r>
              <a:rPr lang="en-US" smtClean="0"/>
              <a:t>08 </a:t>
            </a:r>
            <a:r>
              <a:rPr lang="en-US" dirty="0" smtClean="0"/>
              <a:t>| Grouping Sets and Pivoting Data</a:t>
            </a:r>
            <a:endParaRPr lang="en-US" dirty="0"/>
          </a:p>
        </p:txBody>
      </p:sp>
      <p:sp>
        <p:nvSpPr>
          <p:cNvPr id="4" name="Subtitle 3"/>
          <p:cNvSpPr>
            <a:spLocks noGrp="1"/>
          </p:cNvSpPr>
          <p:nvPr>
            <p:ph type="subTitle" idx="1"/>
          </p:nvPr>
        </p:nvSpPr>
        <p:spPr/>
        <p:txBody>
          <a:bodyPr/>
          <a:lstStyle/>
          <a:p>
            <a:r>
              <a:rPr lang="en-US" dirty="0"/>
              <a:t>Graeme Malcolm | Senior Content Developer, Microsoft</a:t>
            </a:r>
          </a:p>
          <a:p>
            <a:r>
              <a:rPr lang="en-GB" dirty="0"/>
              <a:t>Geoff Allix | Principal Technologist, Content Master</a:t>
            </a:r>
            <a:endParaRPr lang="en-US" dirty="0"/>
          </a:p>
        </p:txBody>
      </p:sp>
    </p:spTree>
    <p:extLst>
      <p:ext uri="{BB962C8B-B14F-4D97-AF65-F5344CB8AC3E}">
        <p14:creationId xmlns:p14="http://schemas.microsoft.com/office/powerpoint/2010/main" xmlns="" val="8976925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Grouping Sets</a:t>
            </a:r>
          </a:p>
          <a:p>
            <a:r>
              <a:rPr lang="en-GB" dirty="0" smtClean="0"/>
              <a:t>ROLLUP</a:t>
            </a:r>
            <a:r>
              <a:rPr lang="en-GB" dirty="0"/>
              <a:t> </a:t>
            </a:r>
            <a:r>
              <a:rPr lang="en-GB" dirty="0" smtClean="0"/>
              <a:t>and CUBE</a:t>
            </a:r>
          </a:p>
          <a:p>
            <a:r>
              <a:rPr lang="en-GB" dirty="0" smtClean="0"/>
              <a:t>Identifying Groupings in Results</a:t>
            </a:r>
          </a:p>
          <a:p>
            <a:r>
              <a:rPr lang="en-GB" dirty="0" smtClean="0"/>
              <a:t>Pivoting Data</a:t>
            </a:r>
          </a:p>
          <a:p>
            <a:r>
              <a:rPr lang="en-GB" dirty="0" smtClean="0"/>
              <a:t>Using PIVOT and UNPIVOT</a:t>
            </a:r>
          </a:p>
        </p:txBody>
      </p:sp>
      <p:sp>
        <p:nvSpPr>
          <p:cNvPr id="2" name="Title 1"/>
          <p:cNvSpPr>
            <a:spLocks noGrp="1"/>
          </p:cNvSpPr>
          <p:nvPr>
            <p:ph type="title"/>
          </p:nvPr>
        </p:nvSpPr>
        <p:spPr/>
        <p:txBody>
          <a:bodyPr/>
          <a:lstStyle/>
          <a:p>
            <a:r>
              <a:rPr lang="en-US" dirty="0" smtClean="0"/>
              <a:t>Module Overview</a:t>
            </a:r>
            <a:endParaRPr lang="en-US" dirty="0"/>
          </a:p>
        </p:txBody>
      </p:sp>
    </p:spTree>
    <p:extLst>
      <p:ext uri="{BB962C8B-B14F-4D97-AF65-F5344CB8AC3E}">
        <p14:creationId xmlns:p14="http://schemas.microsoft.com/office/powerpoint/2010/main" xmlns="" val="3183499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Grouping Sets</a:t>
            </a:r>
            <a:br>
              <a:rPr lang="en-GB" dirty="0" smtClean="0"/>
            </a:br>
            <a:r>
              <a:rPr lang="en-GB" sz="4000" dirty="0" smtClean="0">
                <a:solidFill>
                  <a:schemeClr val="tx1">
                    <a:lumMod val="50000"/>
                    <a:lumOff val="50000"/>
                  </a:schemeClr>
                </a:solidFill>
              </a:rPr>
              <a:t>Syntax</a:t>
            </a:r>
            <a:endParaRPr lang="en-GB" dirty="0">
              <a:solidFill>
                <a:schemeClr val="tx1">
                  <a:lumMod val="50000"/>
                  <a:lumOff val="50000"/>
                </a:schemeClr>
              </a:solidFill>
            </a:endParaRPr>
          </a:p>
        </p:txBody>
      </p:sp>
      <p:sp>
        <p:nvSpPr>
          <p:cNvPr id="3" name="Content Placeholder 2"/>
          <p:cNvSpPr>
            <a:spLocks noGrp="1"/>
          </p:cNvSpPr>
          <p:nvPr>
            <p:ph sz="quarter" idx="10"/>
          </p:nvPr>
        </p:nvSpPr>
        <p:spPr>
          <a:xfrm>
            <a:off x="379413" y="1524000"/>
            <a:ext cx="11525250" cy="5154614"/>
          </a:xfrm>
        </p:spPr>
        <p:txBody>
          <a:bodyPr/>
          <a:lstStyle/>
          <a:p>
            <a:pPr lvl="0"/>
            <a:r>
              <a:rPr lang="en-US" dirty="0">
                <a:solidFill>
                  <a:srgbClr val="000000"/>
                </a:solidFill>
              </a:rPr>
              <a:t>GROUPING SETS </a:t>
            </a:r>
            <a:r>
              <a:rPr lang="en-US" dirty="0" err="1">
                <a:solidFill>
                  <a:srgbClr val="000000"/>
                </a:solidFill>
              </a:rPr>
              <a:t>subclause</a:t>
            </a:r>
            <a:r>
              <a:rPr lang="en-US" dirty="0">
                <a:solidFill>
                  <a:srgbClr val="000000"/>
                </a:solidFill>
              </a:rPr>
              <a:t> builds on </a:t>
            </a:r>
            <a:r>
              <a:rPr lang="en-US" dirty="0" smtClean="0">
                <a:solidFill>
                  <a:srgbClr val="000000"/>
                </a:solidFill>
              </a:rPr>
              <a:t>GROUP </a:t>
            </a:r>
            <a:r>
              <a:rPr lang="en-US" dirty="0">
                <a:solidFill>
                  <a:srgbClr val="000000"/>
                </a:solidFill>
              </a:rPr>
              <a:t>BY clause</a:t>
            </a:r>
          </a:p>
          <a:p>
            <a:pPr lvl="0"/>
            <a:r>
              <a:rPr lang="en-US" dirty="0">
                <a:solidFill>
                  <a:srgbClr val="000000"/>
                </a:solidFill>
              </a:rPr>
              <a:t>Allows multiple groupings to be defined in same query</a:t>
            </a:r>
          </a:p>
          <a:p>
            <a:endParaRPr lang="en-GB" dirty="0"/>
          </a:p>
        </p:txBody>
      </p:sp>
      <p:sp>
        <p:nvSpPr>
          <p:cNvPr id="6" name="AutoShape 3"/>
          <p:cNvSpPr>
            <a:spLocks noChangeArrowheads="1"/>
          </p:cNvSpPr>
          <p:nvPr/>
        </p:nvSpPr>
        <p:spPr bwMode="auto">
          <a:xfrm>
            <a:off x="1502892" y="3000860"/>
            <a:ext cx="9511008" cy="3548479"/>
          </a:xfrm>
          <a:prstGeom prst="roundRect">
            <a:avLst>
              <a:gd name="adj" fmla="val 7093"/>
            </a:avLst>
          </a:prstGeom>
          <a:solidFill>
            <a:srgbClr val="8DACD0">
              <a:lumMod val="20000"/>
              <a:lumOff val="80000"/>
            </a:srgbClr>
          </a:solidFill>
          <a:ln w="9525" algn="ctr">
            <a:solidFill>
              <a:srgbClr val="808080"/>
            </a:solidFill>
            <a:round/>
            <a:headEnd/>
            <a:tailEnd/>
          </a:ln>
          <a:effectLst>
            <a:outerShdw dist="35921" dir="2700000" algn="ctr" rotWithShape="0">
              <a:srgbClr val="C0C0C0"/>
            </a:outerShdw>
          </a:effectLst>
        </p:spPr>
        <p:txBody>
          <a:bodyPr wrap="square" anchor="ctr">
            <a:spAutoFit/>
          </a:bodyPr>
          <a:lstStyle/>
          <a:p>
            <a:r>
              <a:rPr lang="en-GB" sz="2400" dirty="0"/>
              <a:t>SELECT &lt;column list with aggregate(s)&gt;</a:t>
            </a:r>
          </a:p>
          <a:p>
            <a:r>
              <a:rPr lang="en-GB" sz="2400" dirty="0"/>
              <a:t>FROM &lt;source&gt;</a:t>
            </a:r>
          </a:p>
          <a:p>
            <a:r>
              <a:rPr lang="en-GB" sz="2400" dirty="0"/>
              <a:t>GROUP BY </a:t>
            </a:r>
          </a:p>
          <a:p>
            <a:r>
              <a:rPr lang="en-GB" sz="2400" dirty="0"/>
              <a:t>GROUPING SETS</a:t>
            </a:r>
          </a:p>
          <a:p>
            <a:r>
              <a:rPr lang="en-GB" sz="2400" dirty="0"/>
              <a:t>(</a:t>
            </a:r>
          </a:p>
          <a:p>
            <a:r>
              <a:rPr lang="en-GB" sz="2400" dirty="0"/>
              <a:t>	&lt;</a:t>
            </a:r>
            <a:r>
              <a:rPr lang="en-GB" sz="2400" dirty="0" err="1"/>
              <a:t>column_name</a:t>
            </a:r>
            <a:r>
              <a:rPr lang="en-GB" sz="2400" dirty="0"/>
              <a:t>&gt;,--one or more columns</a:t>
            </a:r>
          </a:p>
          <a:p>
            <a:r>
              <a:rPr lang="en-GB" sz="2400" dirty="0"/>
              <a:t>	&lt;</a:t>
            </a:r>
            <a:r>
              <a:rPr lang="en-GB" sz="2400" dirty="0" err="1"/>
              <a:t>column_name</a:t>
            </a:r>
            <a:r>
              <a:rPr lang="en-GB" sz="2400" dirty="0"/>
              <a:t>&gt;,--one or more columns</a:t>
            </a:r>
          </a:p>
          <a:p>
            <a:r>
              <a:rPr lang="en-GB" sz="2400" dirty="0"/>
              <a:t>	() -- empty parentheses if aggregating all rows</a:t>
            </a:r>
          </a:p>
          <a:p>
            <a:r>
              <a:rPr lang="en-GB" sz="2400" dirty="0"/>
              <a:t>);</a:t>
            </a:r>
          </a:p>
        </p:txBody>
      </p:sp>
    </p:spTree>
    <p:extLst>
      <p:ext uri="{BB962C8B-B14F-4D97-AF65-F5344CB8AC3E}">
        <p14:creationId xmlns:p14="http://schemas.microsoft.com/office/powerpoint/2010/main" xmlns="" val="318113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Grouping Sets</a:t>
            </a:r>
            <a:br>
              <a:rPr lang="en-GB" dirty="0" smtClean="0"/>
            </a:br>
            <a:r>
              <a:rPr lang="en-GB" sz="4000" dirty="0" smtClean="0">
                <a:solidFill>
                  <a:schemeClr val="tx1">
                    <a:lumMod val="50000"/>
                    <a:lumOff val="50000"/>
                  </a:schemeClr>
                </a:solidFill>
              </a:rPr>
              <a:t>Example</a:t>
            </a:r>
            <a:endParaRPr lang="en-GB" dirty="0">
              <a:solidFill>
                <a:schemeClr val="tx1">
                  <a:lumMod val="50000"/>
                  <a:lumOff val="50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xmlns="" val="1231189616"/>
              </p:ext>
            </p:extLst>
          </p:nvPr>
        </p:nvGraphicFramePr>
        <p:xfrm>
          <a:off x="5591330" y="3225946"/>
          <a:ext cx="4857134" cy="3409805"/>
        </p:xfrm>
        <a:graphic>
          <a:graphicData uri="http://schemas.openxmlformats.org/drawingml/2006/table">
            <a:tbl>
              <a:tblPr firstRow="1" bandRow="1">
                <a:tableStyleId>{5C22544A-7EE6-4342-B048-85BDC9FD1C3A}</a:tableStyleId>
              </a:tblPr>
              <a:tblGrid>
                <a:gridCol w="1646894">
                  <a:extLst>
                    <a:ext uri="{9D8B030D-6E8A-4147-A177-3AD203B41FA5}">
                      <a16:colId xmlns:a16="http://schemas.microsoft.com/office/drawing/2014/main" xmlns="" val="20001"/>
                    </a:ext>
                  </a:extLst>
                </a:gridCol>
                <a:gridCol w="1605120">
                  <a:extLst>
                    <a:ext uri="{9D8B030D-6E8A-4147-A177-3AD203B41FA5}">
                      <a16:colId xmlns:a16="http://schemas.microsoft.com/office/drawing/2014/main" xmlns="" val="20002"/>
                    </a:ext>
                  </a:extLst>
                </a:gridCol>
                <a:gridCol w="1605120"/>
              </a:tblGrid>
              <a:tr h="487115">
                <a:tc>
                  <a:txBody>
                    <a:bodyPr/>
                    <a:lstStyle/>
                    <a:p>
                      <a:r>
                        <a:rPr lang="en-GB" sz="1600" b="0" dirty="0" err="1" smtClean="0">
                          <a:solidFill>
                            <a:schemeClr val="bg1"/>
                          </a:solidFill>
                        </a:rPr>
                        <a:t>EmployeeID</a:t>
                      </a:r>
                      <a:endParaRPr lang="en-GB" sz="1600" b="0" dirty="0">
                        <a:solidFill>
                          <a:schemeClr val="bg1"/>
                        </a:solidFill>
                      </a:endParaRPr>
                    </a:p>
                  </a:txBody>
                  <a:tcPr>
                    <a:solidFill>
                      <a:schemeClr val="accent1"/>
                    </a:solidFill>
                  </a:tcPr>
                </a:tc>
                <a:tc>
                  <a:txBody>
                    <a:bodyPr/>
                    <a:lstStyle/>
                    <a:p>
                      <a:r>
                        <a:rPr lang="en-GB" sz="1600" b="0" dirty="0" err="1" smtClean="0">
                          <a:solidFill>
                            <a:schemeClr val="bg1"/>
                          </a:solidFill>
                        </a:rPr>
                        <a:t>CustomerID</a:t>
                      </a:r>
                      <a:endParaRPr lang="en-GB" sz="1600" b="0" dirty="0">
                        <a:solidFill>
                          <a:schemeClr val="bg1"/>
                        </a:solidFill>
                      </a:endParaRPr>
                    </a:p>
                  </a:txBody>
                  <a:tcPr>
                    <a:solidFill>
                      <a:schemeClr val="accent1"/>
                    </a:solidFill>
                  </a:tcPr>
                </a:tc>
                <a:tc>
                  <a:txBody>
                    <a:bodyPr/>
                    <a:lstStyle/>
                    <a:p>
                      <a:r>
                        <a:rPr lang="en-GB" sz="1600" b="0" dirty="0" err="1" smtClean="0">
                          <a:solidFill>
                            <a:schemeClr val="bg1"/>
                          </a:solidFill>
                        </a:rPr>
                        <a:t>TotalAmount</a:t>
                      </a:r>
                      <a:endParaRPr lang="en-GB" sz="1600" b="0" dirty="0">
                        <a:solidFill>
                          <a:schemeClr val="bg1"/>
                        </a:solidFill>
                      </a:endParaRPr>
                    </a:p>
                  </a:txBody>
                  <a:tcPr>
                    <a:solidFill>
                      <a:schemeClr val="accent1"/>
                    </a:solidFill>
                  </a:tcPr>
                </a:tc>
                <a:extLst>
                  <a:ext uri="{0D108BD9-81ED-4DB2-BD59-A6C34878D82A}">
                    <a16:rowId xmlns:a16="http://schemas.microsoft.com/office/drawing/2014/main" xmlns="" val="10001"/>
                  </a:ext>
                </a:extLst>
              </a:tr>
              <a:tr h="487115">
                <a:tc>
                  <a:txBody>
                    <a:bodyPr/>
                    <a:lstStyle/>
                    <a:p>
                      <a:r>
                        <a:rPr lang="en-GB" sz="1600" i="1" dirty="0" smtClean="0">
                          <a:solidFill>
                            <a:schemeClr val="bg1">
                              <a:lumMod val="50000"/>
                            </a:schemeClr>
                          </a:solidFill>
                        </a:rPr>
                        <a:t>NULL</a:t>
                      </a:r>
                      <a:endParaRPr lang="en-GB" sz="1600" dirty="0"/>
                    </a:p>
                  </a:txBody>
                  <a:tcPr/>
                </a:tc>
                <a:tc>
                  <a:txBody>
                    <a:bodyPr/>
                    <a:lstStyle/>
                    <a:p>
                      <a:r>
                        <a:rPr lang="en-GB" sz="1600" i="1" dirty="0" smtClean="0">
                          <a:solidFill>
                            <a:schemeClr val="bg1">
                              <a:lumMod val="50000"/>
                            </a:schemeClr>
                          </a:solidFill>
                        </a:rPr>
                        <a:t>NULL</a:t>
                      </a:r>
                      <a:endParaRPr lang="en-GB" sz="1600" i="1" dirty="0">
                        <a:solidFill>
                          <a:schemeClr val="bg1">
                            <a:lumMod val="50000"/>
                          </a:schemeClr>
                        </a:solidFill>
                      </a:endParaRPr>
                    </a:p>
                  </a:txBody>
                  <a:tcPr/>
                </a:tc>
                <a:tc>
                  <a:txBody>
                    <a:bodyPr/>
                    <a:lstStyle/>
                    <a:p>
                      <a:r>
                        <a:rPr lang="en-GB" sz="1600" i="0" dirty="0" smtClean="0">
                          <a:solidFill>
                            <a:schemeClr val="tx1"/>
                          </a:solidFill>
                        </a:rPr>
                        <a:t>256.23</a:t>
                      </a:r>
                      <a:endParaRPr lang="en-GB" sz="1600" i="0" dirty="0">
                        <a:solidFill>
                          <a:schemeClr val="tx1"/>
                        </a:solidFill>
                      </a:endParaRPr>
                    </a:p>
                  </a:txBody>
                  <a:tcPr/>
                </a:tc>
                <a:extLst>
                  <a:ext uri="{0D108BD9-81ED-4DB2-BD59-A6C34878D82A}">
                    <a16:rowId xmlns:a16="http://schemas.microsoft.com/office/drawing/2014/main" xmlns="" val="10002"/>
                  </a:ext>
                </a:extLst>
              </a:tr>
              <a:tr h="487115">
                <a:tc>
                  <a:txBody>
                    <a:bodyPr/>
                    <a:lstStyle/>
                    <a:p>
                      <a:r>
                        <a:rPr lang="en-GB" sz="1600" i="1" dirty="0" smtClean="0">
                          <a:solidFill>
                            <a:schemeClr val="bg1">
                              <a:lumMod val="50000"/>
                            </a:schemeClr>
                          </a:solidFill>
                        </a:rPr>
                        <a:t>NULL</a:t>
                      </a:r>
                      <a:endParaRPr lang="en-GB" sz="1600" dirty="0"/>
                    </a:p>
                  </a:txBody>
                  <a:tcPr/>
                </a:tc>
                <a:tc>
                  <a:txBody>
                    <a:bodyPr/>
                    <a:lstStyle/>
                    <a:p>
                      <a:r>
                        <a:rPr lang="en-GB" sz="1600" dirty="0" smtClean="0"/>
                        <a:t>1</a:t>
                      </a:r>
                      <a:endParaRPr lang="en-GB" sz="1600" dirty="0"/>
                    </a:p>
                  </a:txBody>
                  <a:tcPr/>
                </a:tc>
                <a:tc>
                  <a:txBody>
                    <a:bodyPr/>
                    <a:lstStyle/>
                    <a:p>
                      <a:r>
                        <a:rPr lang="en-GB" sz="1600" dirty="0" smtClean="0"/>
                        <a:t>49.99</a:t>
                      </a:r>
                      <a:endParaRPr lang="en-GB" sz="1600" dirty="0"/>
                    </a:p>
                  </a:txBody>
                  <a:tcPr/>
                </a:tc>
                <a:extLst>
                  <a:ext uri="{0D108BD9-81ED-4DB2-BD59-A6C34878D82A}">
                    <a16:rowId xmlns:a16="http://schemas.microsoft.com/office/drawing/2014/main" xmlns="" val="10003"/>
                  </a:ext>
                </a:extLst>
              </a:tr>
              <a:tr h="487115">
                <a:tc>
                  <a:txBody>
                    <a:bodyPr/>
                    <a:lstStyle/>
                    <a:p>
                      <a:r>
                        <a:rPr lang="en-GB" sz="1600" i="1" dirty="0" smtClean="0">
                          <a:solidFill>
                            <a:schemeClr val="bg1">
                              <a:lumMod val="50000"/>
                            </a:schemeClr>
                          </a:solidFill>
                        </a:rPr>
                        <a:t>NULL</a:t>
                      </a:r>
                      <a:endParaRPr lang="en-GB" sz="1600" dirty="0"/>
                    </a:p>
                  </a:txBody>
                  <a:tcPr/>
                </a:tc>
                <a:tc>
                  <a:txBody>
                    <a:bodyPr/>
                    <a:lstStyle/>
                    <a:p>
                      <a:r>
                        <a:rPr lang="en-GB" sz="1600" dirty="0" smtClean="0"/>
                        <a:t>2</a:t>
                      </a:r>
                      <a:endParaRPr lang="en-GB" sz="1600" dirty="0"/>
                    </a:p>
                  </a:txBody>
                  <a:tcPr/>
                </a:tc>
                <a:tc>
                  <a:txBody>
                    <a:bodyPr/>
                    <a:lstStyle/>
                    <a:p>
                      <a:r>
                        <a:rPr lang="en-GB" sz="1600" dirty="0" smtClean="0"/>
                        <a:t>107.49</a:t>
                      </a:r>
                      <a:endParaRPr lang="en-GB" sz="1600" dirty="0"/>
                    </a:p>
                  </a:txBody>
                  <a:tcPr/>
                </a:tc>
                <a:extLst>
                  <a:ext uri="{0D108BD9-81ED-4DB2-BD59-A6C34878D82A}">
                    <a16:rowId xmlns:a16="http://schemas.microsoft.com/office/drawing/2014/main" xmlns="" val="10004"/>
                  </a:ext>
                </a:extLst>
              </a:tr>
              <a:tr h="487115">
                <a:tc>
                  <a:txBody>
                    <a:bodyPr/>
                    <a:lstStyle/>
                    <a:p>
                      <a:r>
                        <a:rPr lang="en-GB" sz="1600" i="1" dirty="0" smtClean="0">
                          <a:solidFill>
                            <a:schemeClr val="bg1">
                              <a:lumMod val="50000"/>
                            </a:schemeClr>
                          </a:solidFill>
                        </a:rPr>
                        <a:t>NULL</a:t>
                      </a:r>
                      <a:endParaRPr lang="en-GB" sz="1600" dirty="0"/>
                    </a:p>
                  </a:txBody>
                  <a:tcPr/>
                </a:tc>
                <a:tc>
                  <a:txBody>
                    <a:bodyPr/>
                    <a:lstStyle/>
                    <a:p>
                      <a:r>
                        <a:rPr lang="en-GB" sz="1600" i="0" dirty="0" smtClean="0">
                          <a:solidFill>
                            <a:schemeClr val="tx1"/>
                          </a:solidFill>
                        </a:rPr>
                        <a:t>3</a:t>
                      </a:r>
                      <a:endParaRPr lang="en-GB" sz="1600" i="0" dirty="0">
                        <a:solidFill>
                          <a:schemeClr val="tx1"/>
                        </a:solidFill>
                      </a:endParaRPr>
                    </a:p>
                  </a:txBody>
                  <a:tcPr/>
                </a:tc>
                <a:tc>
                  <a:txBody>
                    <a:bodyPr/>
                    <a:lstStyle/>
                    <a:p>
                      <a:r>
                        <a:rPr lang="en-GB" sz="1600" dirty="0" smtClean="0"/>
                        <a:t>98.75</a:t>
                      </a:r>
                      <a:endParaRPr lang="en-GB" sz="1600" dirty="0"/>
                    </a:p>
                  </a:txBody>
                  <a:tcPr/>
                </a:tc>
              </a:tr>
              <a:tr h="487115">
                <a:tc>
                  <a:txBody>
                    <a:bodyPr/>
                    <a:lstStyle/>
                    <a:p>
                      <a:r>
                        <a:rPr lang="en-GB" sz="1600" dirty="0" smtClean="0"/>
                        <a:t>1</a:t>
                      </a:r>
                      <a:endParaRPr lang="en-GB" sz="1600" dirty="0"/>
                    </a:p>
                  </a:txBody>
                  <a:tcPr/>
                </a:tc>
                <a:tc>
                  <a:txBody>
                    <a:bodyPr/>
                    <a:lstStyle/>
                    <a:p>
                      <a:r>
                        <a:rPr lang="en-GB" sz="1600" i="1" dirty="0" smtClean="0">
                          <a:solidFill>
                            <a:schemeClr val="bg1">
                              <a:lumMod val="50000"/>
                            </a:schemeClr>
                          </a:solidFill>
                        </a:rPr>
                        <a:t>NULL</a:t>
                      </a:r>
                      <a:endParaRPr lang="en-GB" sz="1600" dirty="0"/>
                    </a:p>
                  </a:txBody>
                  <a:tcPr/>
                </a:tc>
                <a:tc>
                  <a:txBody>
                    <a:bodyPr/>
                    <a:lstStyle/>
                    <a:p>
                      <a:r>
                        <a:rPr lang="en-GB" sz="1600" dirty="0" smtClean="0"/>
                        <a:t>107.49</a:t>
                      </a:r>
                      <a:endParaRPr lang="en-GB" sz="1600" dirty="0"/>
                    </a:p>
                  </a:txBody>
                  <a:tcPr/>
                </a:tc>
              </a:tr>
              <a:tr h="487115">
                <a:tc>
                  <a:txBody>
                    <a:bodyPr/>
                    <a:lstStyle/>
                    <a:p>
                      <a:r>
                        <a:rPr lang="en-GB" sz="1600" dirty="0" smtClean="0"/>
                        <a:t>2</a:t>
                      </a:r>
                      <a:endParaRPr lang="en-GB" sz="1600" dirty="0"/>
                    </a:p>
                  </a:txBody>
                  <a:tcPr/>
                </a:tc>
                <a:tc>
                  <a:txBody>
                    <a:bodyPr/>
                    <a:lstStyle/>
                    <a:p>
                      <a:r>
                        <a:rPr lang="en-GB" sz="1600" i="1" dirty="0" smtClean="0">
                          <a:solidFill>
                            <a:schemeClr val="bg1">
                              <a:lumMod val="50000"/>
                            </a:schemeClr>
                          </a:solidFill>
                        </a:rPr>
                        <a:t>NULL</a:t>
                      </a:r>
                      <a:endParaRPr lang="en-GB" sz="1600" dirty="0"/>
                    </a:p>
                  </a:txBody>
                  <a:tcPr/>
                </a:tc>
                <a:tc>
                  <a:txBody>
                    <a:bodyPr/>
                    <a:lstStyle/>
                    <a:p>
                      <a:r>
                        <a:rPr lang="en-GB" sz="1600" dirty="0" smtClean="0"/>
                        <a:t>148.74</a:t>
                      </a:r>
                      <a:endParaRPr lang="en-GB" sz="1600" dirty="0"/>
                    </a:p>
                  </a:txBody>
                  <a:tcPr/>
                </a:tc>
              </a:tr>
            </a:tbl>
          </a:graphicData>
        </a:graphic>
      </p:graphicFrame>
      <p:sp>
        <p:nvSpPr>
          <p:cNvPr id="5" name="TextBox 4"/>
          <p:cNvSpPr txBox="1"/>
          <p:nvPr/>
        </p:nvSpPr>
        <p:spPr>
          <a:xfrm>
            <a:off x="3417326" y="3760396"/>
            <a:ext cx="1913473" cy="400110"/>
          </a:xfrm>
          <a:prstGeom prst="rect">
            <a:avLst/>
          </a:prstGeom>
          <a:noFill/>
        </p:spPr>
        <p:txBody>
          <a:bodyPr wrap="none" rtlCol="0">
            <a:spAutoFit/>
          </a:bodyPr>
          <a:lstStyle/>
          <a:p>
            <a:r>
              <a:rPr lang="en-GB" sz="2000" dirty="0" smtClean="0"/>
              <a:t>Total for all sales</a:t>
            </a:r>
            <a:endParaRPr lang="en-GB" sz="2000" dirty="0"/>
          </a:p>
        </p:txBody>
      </p:sp>
      <p:sp>
        <p:nvSpPr>
          <p:cNvPr id="6" name="TextBox 5"/>
          <p:cNvSpPr txBox="1"/>
          <p:nvPr/>
        </p:nvSpPr>
        <p:spPr>
          <a:xfrm>
            <a:off x="2235144" y="4754656"/>
            <a:ext cx="3107004" cy="400110"/>
          </a:xfrm>
          <a:prstGeom prst="rect">
            <a:avLst/>
          </a:prstGeom>
          <a:noFill/>
        </p:spPr>
        <p:txBody>
          <a:bodyPr wrap="none" rtlCol="0">
            <a:spAutoFit/>
          </a:bodyPr>
          <a:lstStyle/>
          <a:p>
            <a:r>
              <a:rPr lang="en-GB" sz="2000" dirty="0" smtClean="0"/>
              <a:t>Subtotals for each customer</a:t>
            </a:r>
            <a:endParaRPr lang="en-GB" sz="2000" dirty="0"/>
          </a:p>
        </p:txBody>
      </p:sp>
      <p:sp>
        <p:nvSpPr>
          <p:cNvPr id="7" name="TextBox 6"/>
          <p:cNvSpPr txBox="1"/>
          <p:nvPr/>
        </p:nvSpPr>
        <p:spPr>
          <a:xfrm>
            <a:off x="2191094" y="5968986"/>
            <a:ext cx="3152786" cy="400110"/>
          </a:xfrm>
          <a:prstGeom prst="rect">
            <a:avLst/>
          </a:prstGeom>
          <a:noFill/>
        </p:spPr>
        <p:txBody>
          <a:bodyPr wrap="none" rtlCol="0">
            <a:spAutoFit/>
          </a:bodyPr>
          <a:lstStyle/>
          <a:p>
            <a:r>
              <a:rPr lang="en-GB" sz="2000" dirty="0" smtClean="0"/>
              <a:t>Subtotals for each employee</a:t>
            </a:r>
            <a:endParaRPr lang="en-GB" sz="2000" dirty="0"/>
          </a:p>
        </p:txBody>
      </p:sp>
      <p:sp>
        <p:nvSpPr>
          <p:cNvPr id="8" name="Left Brace 7"/>
          <p:cNvSpPr/>
          <p:nvPr/>
        </p:nvSpPr>
        <p:spPr>
          <a:xfrm>
            <a:off x="5330799" y="4253833"/>
            <a:ext cx="169270" cy="1378392"/>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sp>
        <p:nvSpPr>
          <p:cNvPr id="9" name="Left Brace 8"/>
          <p:cNvSpPr/>
          <p:nvPr/>
        </p:nvSpPr>
        <p:spPr>
          <a:xfrm>
            <a:off x="5343880" y="5701685"/>
            <a:ext cx="143107" cy="934066"/>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sp>
        <p:nvSpPr>
          <p:cNvPr id="10" name="Left Brace 9"/>
          <p:cNvSpPr/>
          <p:nvPr/>
        </p:nvSpPr>
        <p:spPr>
          <a:xfrm>
            <a:off x="5343880" y="3760396"/>
            <a:ext cx="143107" cy="379212"/>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sp>
        <p:nvSpPr>
          <p:cNvPr id="11" name="AutoShape 3"/>
          <p:cNvSpPr>
            <a:spLocks noChangeArrowheads="1"/>
          </p:cNvSpPr>
          <p:nvPr/>
        </p:nvSpPr>
        <p:spPr bwMode="auto">
          <a:xfrm>
            <a:off x="1524323" y="1251087"/>
            <a:ext cx="9511008" cy="1790224"/>
          </a:xfrm>
          <a:prstGeom prst="roundRect">
            <a:avLst>
              <a:gd name="adj" fmla="val 7093"/>
            </a:avLst>
          </a:prstGeom>
          <a:solidFill>
            <a:srgbClr val="8DACD0">
              <a:lumMod val="20000"/>
              <a:lumOff val="80000"/>
            </a:srgbClr>
          </a:solidFill>
          <a:ln w="9525" algn="ctr">
            <a:solidFill>
              <a:srgbClr val="808080"/>
            </a:solidFill>
            <a:round/>
            <a:headEnd/>
            <a:tailEnd/>
          </a:ln>
          <a:effectLst>
            <a:outerShdw dist="35921" dir="2700000" algn="ctr" rotWithShape="0">
              <a:srgbClr val="C0C0C0"/>
            </a:outerShdw>
          </a:effectLst>
        </p:spPr>
        <p:txBody>
          <a:bodyPr wrap="square" anchor="ctr">
            <a:spAutoFit/>
          </a:bodyPr>
          <a:lstStyle/>
          <a:p>
            <a:r>
              <a:rPr lang="en-GB" sz="2400" dirty="0"/>
              <a:t>SELECT </a:t>
            </a:r>
            <a:r>
              <a:rPr lang="en-GB" sz="2400" dirty="0" err="1"/>
              <a:t>EmployeeID</a:t>
            </a:r>
            <a:r>
              <a:rPr lang="en-GB" sz="2400" dirty="0"/>
              <a:t>, </a:t>
            </a:r>
            <a:r>
              <a:rPr lang="en-GB" sz="2400" dirty="0" err="1"/>
              <a:t>CustomerID</a:t>
            </a:r>
            <a:r>
              <a:rPr lang="en-GB" sz="2400" dirty="0"/>
              <a:t>, SUM(Amount) AS </a:t>
            </a:r>
            <a:r>
              <a:rPr lang="en-GB" sz="2400" dirty="0" err="1"/>
              <a:t>TotalAmount</a:t>
            </a:r>
            <a:endParaRPr lang="en-GB" sz="2400" dirty="0"/>
          </a:p>
          <a:p>
            <a:r>
              <a:rPr lang="en-GB" sz="2400" dirty="0"/>
              <a:t>FROM </a:t>
            </a:r>
            <a:r>
              <a:rPr lang="en-GB" sz="2400" dirty="0" err="1"/>
              <a:t>Sales.SalesOrder</a:t>
            </a:r>
            <a:endParaRPr lang="en-GB" sz="2400" dirty="0"/>
          </a:p>
          <a:p>
            <a:r>
              <a:rPr lang="en-GB" sz="2400" dirty="0"/>
              <a:t>GROUP BY </a:t>
            </a:r>
          </a:p>
          <a:p>
            <a:r>
              <a:rPr lang="en-GB" sz="2400" dirty="0"/>
              <a:t>GROUPING SETS(</a:t>
            </a:r>
            <a:r>
              <a:rPr lang="en-GB" sz="2400" dirty="0" err="1"/>
              <a:t>EmployeeID</a:t>
            </a:r>
            <a:r>
              <a:rPr lang="en-GB" sz="2400" dirty="0"/>
              <a:t>, </a:t>
            </a:r>
            <a:r>
              <a:rPr lang="en-GB" sz="2400" dirty="0" err="1"/>
              <a:t>CustomerID</a:t>
            </a:r>
            <a:r>
              <a:rPr lang="en-GB" sz="2400" dirty="0" smtClean="0"/>
              <a:t>,());</a:t>
            </a:r>
            <a:endParaRPr lang="cs-CZ" sz="2400" dirty="0" smtClean="0"/>
          </a:p>
          <a:p>
            <a:r>
              <a:rPr lang="cs-CZ" sz="1000" dirty="0" smtClean="0"/>
              <a:t>Tady nevím, kolik prodejů realizoval který zaměstnanec v které kategorii</a:t>
            </a:r>
            <a:endParaRPr lang="en-GB" sz="1000" dirty="0"/>
          </a:p>
        </p:txBody>
      </p:sp>
    </p:spTree>
    <p:extLst>
      <p:ext uri="{BB962C8B-B14F-4D97-AF65-F5344CB8AC3E}">
        <p14:creationId xmlns:p14="http://schemas.microsoft.com/office/powerpoint/2010/main" xmlns="" val="363347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ROLLUP and CUBE</a:t>
            </a:r>
            <a:endParaRPr lang="en-GB" dirty="0"/>
          </a:p>
        </p:txBody>
      </p:sp>
      <p:sp>
        <p:nvSpPr>
          <p:cNvPr id="3" name="Content Placeholder 2"/>
          <p:cNvSpPr>
            <a:spLocks noGrp="1"/>
          </p:cNvSpPr>
          <p:nvPr>
            <p:ph sz="quarter" idx="10"/>
          </p:nvPr>
        </p:nvSpPr>
        <p:spPr>
          <a:xfrm>
            <a:off x="379413" y="1002890"/>
            <a:ext cx="11525250" cy="5675724"/>
          </a:xfrm>
        </p:spPr>
        <p:txBody>
          <a:bodyPr/>
          <a:lstStyle/>
          <a:p>
            <a:r>
              <a:rPr lang="en-US" dirty="0">
                <a:solidFill>
                  <a:srgbClr val="000000"/>
                </a:solidFill>
              </a:rPr>
              <a:t>ROLLUP provides shortcut for defining grouping </a:t>
            </a:r>
            <a:r>
              <a:rPr lang="en-US" dirty="0" smtClean="0">
                <a:solidFill>
                  <a:srgbClr val="000000"/>
                </a:solidFill>
              </a:rPr>
              <a:t>sets with combinations that assume input </a:t>
            </a:r>
            <a:r>
              <a:rPr lang="en-US" dirty="0">
                <a:solidFill>
                  <a:srgbClr val="000000"/>
                </a:solidFill>
              </a:rPr>
              <a:t>columns form a </a:t>
            </a:r>
            <a:r>
              <a:rPr lang="en-US" dirty="0" smtClean="0">
                <a:solidFill>
                  <a:srgbClr val="000000"/>
                </a:solidFill>
              </a:rPr>
              <a:t>hierarchy</a:t>
            </a:r>
          </a:p>
          <a:p>
            <a:endParaRPr lang="en-US" dirty="0">
              <a:solidFill>
                <a:srgbClr val="000000"/>
              </a:solidFill>
            </a:endParaRPr>
          </a:p>
          <a:p>
            <a:endParaRPr lang="en-US" dirty="0" smtClean="0">
              <a:solidFill>
                <a:srgbClr val="000000"/>
              </a:solidFill>
            </a:endParaRPr>
          </a:p>
          <a:p>
            <a:r>
              <a:rPr lang="cs-CZ" sz="1800" dirty="0" smtClean="0">
                <a:solidFill>
                  <a:srgbClr val="000000"/>
                </a:solidFill>
              </a:rPr>
              <a:t>Zobrazuje údaje pouze hierarchicky – vidím, kolik v které kategorii kdo prodal</a:t>
            </a:r>
            <a:endParaRPr lang="en-US" sz="1800" dirty="0">
              <a:solidFill>
                <a:srgbClr val="000000"/>
              </a:solidFill>
            </a:endParaRPr>
          </a:p>
          <a:p>
            <a:pPr lvl="0"/>
            <a:r>
              <a:rPr lang="en-US" dirty="0" smtClean="0">
                <a:solidFill>
                  <a:srgbClr val="000000"/>
                </a:solidFill>
              </a:rPr>
              <a:t>CUBE </a:t>
            </a:r>
            <a:r>
              <a:rPr lang="en-US" dirty="0">
                <a:solidFill>
                  <a:srgbClr val="000000"/>
                </a:solidFill>
              </a:rPr>
              <a:t>provides shortcut for defining grouping </a:t>
            </a:r>
            <a:r>
              <a:rPr lang="en-US" dirty="0" smtClean="0">
                <a:solidFill>
                  <a:srgbClr val="000000"/>
                </a:solidFill>
              </a:rPr>
              <a:t>sets in which all </a:t>
            </a:r>
            <a:r>
              <a:rPr lang="en-US" dirty="0">
                <a:solidFill>
                  <a:srgbClr val="000000"/>
                </a:solidFill>
              </a:rPr>
              <a:t>possible combinations of grouping sets created</a:t>
            </a:r>
          </a:p>
          <a:p>
            <a:pPr lvl="0"/>
            <a:endParaRPr lang="en-US" dirty="0">
              <a:solidFill>
                <a:srgbClr val="000000"/>
              </a:solidFill>
            </a:endParaRPr>
          </a:p>
          <a:p>
            <a:pPr lvl="0"/>
            <a:endParaRPr lang="en-US" dirty="0">
              <a:solidFill>
                <a:srgbClr val="000000"/>
              </a:solidFill>
            </a:endParaRPr>
          </a:p>
          <a:p>
            <a:endParaRPr lang="en-GB" dirty="0"/>
          </a:p>
        </p:txBody>
      </p:sp>
      <p:sp>
        <p:nvSpPr>
          <p:cNvPr id="5" name="AutoShape 3"/>
          <p:cNvSpPr>
            <a:spLocks noChangeArrowheads="1"/>
          </p:cNvSpPr>
          <p:nvPr/>
        </p:nvSpPr>
        <p:spPr bwMode="auto">
          <a:xfrm>
            <a:off x="1518942" y="5202972"/>
            <a:ext cx="9511008" cy="1374636"/>
          </a:xfrm>
          <a:prstGeom prst="roundRect">
            <a:avLst>
              <a:gd name="adj" fmla="val 7093"/>
            </a:avLst>
          </a:prstGeom>
          <a:solidFill>
            <a:srgbClr val="8DACD0">
              <a:lumMod val="20000"/>
              <a:lumOff val="80000"/>
            </a:srgbClr>
          </a:solidFill>
          <a:ln w="9525" algn="ctr">
            <a:solidFill>
              <a:srgbClr val="808080"/>
            </a:solidFill>
            <a:round/>
            <a:headEnd/>
            <a:tailEnd/>
          </a:ln>
          <a:effectLst>
            <a:outerShdw dist="35921" dir="2700000" algn="ctr" rotWithShape="0">
              <a:srgbClr val="C0C0C0"/>
            </a:outerShdw>
          </a:effectLst>
        </p:spPr>
        <p:txBody>
          <a:bodyPr wrap="square" anchor="ctr">
            <a:spAutoFit/>
          </a:bodyPr>
          <a:lstStyle/>
          <a:p>
            <a:pPr lvl="0" fontAlgn="base">
              <a:spcBef>
                <a:spcPct val="0"/>
              </a:spcBef>
              <a:spcAft>
                <a:spcPct val="0"/>
              </a:spcAft>
            </a:pPr>
            <a:r>
              <a:rPr lang="en-GB" sz="2000" kern="0" dirty="0" smtClean="0">
                <a:latin typeface="Lucida Sans Unicode" panose="020B0602030504020204" pitchFamily="34" charset="0"/>
                <a:cs typeface="Lucida Sans Unicode" panose="020B0602030504020204" pitchFamily="34" charset="0"/>
              </a:rPr>
              <a:t>SELECT </a:t>
            </a:r>
            <a:r>
              <a:rPr lang="en-GB" sz="2000" kern="0" dirty="0" err="1" smtClean="0">
                <a:latin typeface="Lucida Sans Unicode" panose="020B0602030504020204" pitchFamily="34" charset="0"/>
                <a:cs typeface="Lucida Sans Unicode" panose="020B0602030504020204" pitchFamily="34" charset="0"/>
              </a:rPr>
              <a:t>SalesPersonName</a:t>
            </a:r>
            <a:r>
              <a:rPr lang="en-GB" sz="2000" kern="0" dirty="0" smtClean="0">
                <a:latin typeface="Lucida Sans Unicode" panose="020B0602030504020204" pitchFamily="34" charset="0"/>
                <a:cs typeface="Lucida Sans Unicode" panose="020B0602030504020204" pitchFamily="34" charset="0"/>
              </a:rPr>
              <a:t>, </a:t>
            </a:r>
            <a:r>
              <a:rPr lang="en-GB" sz="2000" kern="0" dirty="0" err="1" smtClean="0">
                <a:latin typeface="Lucida Sans Unicode" panose="020B0602030504020204" pitchFamily="34" charset="0"/>
                <a:cs typeface="Lucida Sans Unicode" panose="020B0602030504020204" pitchFamily="34" charset="0"/>
              </a:rPr>
              <a:t>CustomerName</a:t>
            </a:r>
            <a:r>
              <a:rPr lang="en-GB" sz="2000" kern="0" dirty="0" smtClean="0">
                <a:latin typeface="Lucida Sans Unicode" panose="020B0602030504020204" pitchFamily="34" charset="0"/>
                <a:cs typeface="Lucida Sans Unicode" panose="020B0602030504020204" pitchFamily="34" charset="0"/>
              </a:rPr>
              <a:t>, </a:t>
            </a:r>
            <a:r>
              <a:rPr lang="en-GB" sz="2000" kern="0" dirty="0">
                <a:latin typeface="Lucida Sans Unicode" panose="020B0602030504020204" pitchFamily="34" charset="0"/>
                <a:cs typeface="Lucida Sans Unicode" panose="020B0602030504020204" pitchFamily="34" charset="0"/>
              </a:rPr>
              <a:t>SUM(Amount) AS </a:t>
            </a:r>
            <a:r>
              <a:rPr lang="en-GB" sz="2000" kern="0" dirty="0" err="1">
                <a:latin typeface="Lucida Sans Unicode" panose="020B0602030504020204" pitchFamily="34" charset="0"/>
                <a:cs typeface="Lucida Sans Unicode" panose="020B0602030504020204" pitchFamily="34" charset="0"/>
              </a:rPr>
              <a:t>TotalAmount</a:t>
            </a:r>
            <a:endParaRPr lang="en-GB" sz="2000" kern="0" dirty="0">
              <a:latin typeface="Lucida Sans Unicode" panose="020B0602030504020204" pitchFamily="34" charset="0"/>
              <a:cs typeface="Lucida Sans Unicode" panose="020B0602030504020204" pitchFamily="34" charset="0"/>
            </a:endParaRPr>
          </a:p>
          <a:p>
            <a:pPr lvl="0" fontAlgn="base">
              <a:spcBef>
                <a:spcPct val="0"/>
              </a:spcBef>
              <a:spcAft>
                <a:spcPct val="0"/>
              </a:spcAft>
            </a:pPr>
            <a:r>
              <a:rPr lang="en-GB" sz="2000" kern="0" dirty="0">
                <a:latin typeface="Lucida Sans Unicode" panose="020B0602030504020204" pitchFamily="34" charset="0"/>
                <a:cs typeface="Lucida Sans Unicode" panose="020B0602030504020204" pitchFamily="34" charset="0"/>
              </a:rPr>
              <a:t>FROM </a:t>
            </a:r>
            <a:r>
              <a:rPr lang="en-GB" sz="2000" kern="0" dirty="0" err="1" smtClean="0">
                <a:latin typeface="Lucida Sans Unicode" panose="020B0602030504020204" pitchFamily="34" charset="0"/>
                <a:cs typeface="Lucida Sans Unicode" panose="020B0602030504020204" pitchFamily="34" charset="0"/>
              </a:rPr>
              <a:t>Sales.vSalesOrders</a:t>
            </a:r>
            <a:endParaRPr lang="en-GB" sz="2000" kern="0" dirty="0">
              <a:latin typeface="Lucida Sans Unicode" panose="020B0602030504020204" pitchFamily="34" charset="0"/>
              <a:cs typeface="Lucida Sans Unicode" panose="020B0602030504020204" pitchFamily="34" charset="0"/>
            </a:endParaRPr>
          </a:p>
          <a:p>
            <a:pPr lvl="0" fontAlgn="base">
              <a:spcBef>
                <a:spcPct val="0"/>
              </a:spcBef>
              <a:spcAft>
                <a:spcPct val="0"/>
              </a:spcAft>
            </a:pPr>
            <a:r>
              <a:rPr kumimoji="0" lang="en-US" sz="2000" i="0" u="none" strike="noStrike" kern="0" cap="none" spc="0" normalizeH="0" baseline="0" noProof="0" dirty="0" smtClean="0">
                <a:ln>
                  <a:noFill/>
                </a:ln>
                <a:effectLst/>
                <a:uLnTx/>
                <a:uFillTx/>
                <a:latin typeface="Lucida Sans Unicode" panose="020B0602030504020204" pitchFamily="34" charset="0"/>
                <a:cs typeface="Lucida Sans Unicode" panose="020B0602030504020204" pitchFamily="34" charset="0"/>
              </a:rPr>
              <a:t>GROUP </a:t>
            </a:r>
            <a:r>
              <a:rPr lang="en-US" sz="2000" kern="0" dirty="0">
                <a:latin typeface="Lucida Sans Unicode" panose="020B0602030504020204" pitchFamily="34" charset="0"/>
                <a:cs typeface="Lucida Sans Unicode" panose="020B0602030504020204" pitchFamily="34" charset="0"/>
              </a:rPr>
              <a:t>BY </a:t>
            </a:r>
            <a:r>
              <a:rPr lang="en-US" sz="2000" kern="0" dirty="0" smtClean="0">
                <a:latin typeface="Lucida Sans Unicode" panose="020B0602030504020204" pitchFamily="34" charset="0"/>
                <a:cs typeface="Lucida Sans Unicode" panose="020B0602030504020204" pitchFamily="34" charset="0"/>
              </a:rPr>
              <a:t>CUBE(</a:t>
            </a:r>
            <a:r>
              <a:rPr lang="en-GB" sz="2000" kern="0" dirty="0" err="1">
                <a:latin typeface="Lucida Sans Unicode" panose="020B0602030504020204" pitchFamily="34" charset="0"/>
                <a:cs typeface="Lucida Sans Unicode" panose="020B0602030504020204" pitchFamily="34" charset="0"/>
              </a:rPr>
              <a:t>SalesPersonName</a:t>
            </a:r>
            <a:r>
              <a:rPr lang="en-GB" sz="2000" kern="0" dirty="0">
                <a:latin typeface="Lucida Sans Unicode" panose="020B0602030504020204" pitchFamily="34" charset="0"/>
                <a:cs typeface="Lucida Sans Unicode" panose="020B0602030504020204" pitchFamily="34" charset="0"/>
              </a:rPr>
              <a:t>, </a:t>
            </a:r>
            <a:r>
              <a:rPr lang="en-GB" sz="2000" kern="0" dirty="0" err="1">
                <a:latin typeface="Lucida Sans Unicode" panose="020B0602030504020204" pitchFamily="34" charset="0"/>
                <a:cs typeface="Lucida Sans Unicode" panose="020B0602030504020204" pitchFamily="34" charset="0"/>
              </a:rPr>
              <a:t>CustomerName</a:t>
            </a:r>
            <a:r>
              <a:rPr lang="en-US" sz="2000" kern="0" dirty="0" smtClean="0">
                <a:latin typeface="Lucida Sans Unicode" panose="020B0602030504020204" pitchFamily="34" charset="0"/>
                <a:cs typeface="Lucida Sans Unicode" panose="020B0602030504020204" pitchFamily="34" charset="0"/>
              </a:rPr>
              <a:t>)</a:t>
            </a:r>
            <a:endParaRPr kumimoji="0" lang="en-US" sz="2000" i="0" u="none" strike="noStrike" kern="0" cap="none" spc="0" normalizeH="0" baseline="0" noProof="0" dirty="0" smtClean="0">
              <a:ln>
                <a:noFill/>
              </a:ln>
              <a:effectLst/>
              <a:uLnTx/>
              <a:uFillTx/>
              <a:latin typeface="Lucida Sans Unicode" panose="020B0602030504020204" pitchFamily="34" charset="0"/>
              <a:cs typeface="Lucida Sans Unicode" panose="020B0602030504020204" pitchFamily="34" charset="0"/>
            </a:endParaRPr>
          </a:p>
          <a:p>
            <a:pPr lvl="0" fontAlgn="base">
              <a:spcBef>
                <a:spcPct val="0"/>
              </a:spcBef>
              <a:spcAft>
                <a:spcPct val="0"/>
              </a:spcAft>
            </a:pPr>
            <a:r>
              <a:rPr kumimoji="0" lang="en-US" sz="2000" i="0" u="none" strike="noStrike" kern="0" cap="none" spc="0" normalizeH="0" baseline="0" noProof="0" dirty="0" smtClean="0">
                <a:ln>
                  <a:noFill/>
                </a:ln>
                <a:effectLst/>
                <a:uLnTx/>
                <a:uFillTx/>
                <a:latin typeface="Lucida Sans Unicode" panose="020B0602030504020204" pitchFamily="34" charset="0"/>
                <a:cs typeface="Lucida Sans Unicode" panose="020B0602030504020204" pitchFamily="34" charset="0"/>
              </a:rPr>
              <a:t>ORDER </a:t>
            </a:r>
            <a:r>
              <a:rPr lang="en-US" sz="2000" kern="0" dirty="0">
                <a:latin typeface="Lucida Sans Unicode" panose="020B0602030504020204" pitchFamily="34" charset="0"/>
                <a:cs typeface="Lucida Sans Unicode" panose="020B0602030504020204" pitchFamily="34" charset="0"/>
              </a:rPr>
              <a:t>BY </a:t>
            </a:r>
            <a:r>
              <a:rPr lang="en-GB" sz="2000" kern="0" dirty="0" err="1">
                <a:latin typeface="Lucida Sans Unicode" panose="020B0602030504020204" pitchFamily="34" charset="0"/>
                <a:cs typeface="Lucida Sans Unicode" panose="020B0602030504020204" pitchFamily="34" charset="0"/>
              </a:rPr>
              <a:t>SalesPersonName</a:t>
            </a:r>
            <a:r>
              <a:rPr lang="en-GB" sz="2000" kern="0" dirty="0">
                <a:latin typeface="Lucida Sans Unicode" panose="020B0602030504020204" pitchFamily="34" charset="0"/>
                <a:cs typeface="Lucida Sans Unicode" panose="020B0602030504020204" pitchFamily="34" charset="0"/>
              </a:rPr>
              <a:t>, </a:t>
            </a:r>
            <a:r>
              <a:rPr lang="en-GB" sz="2000" kern="0" dirty="0" err="1">
                <a:latin typeface="Lucida Sans Unicode" panose="020B0602030504020204" pitchFamily="34" charset="0"/>
                <a:cs typeface="Lucida Sans Unicode" panose="020B0602030504020204" pitchFamily="34" charset="0"/>
              </a:rPr>
              <a:t>CustomerName</a:t>
            </a:r>
            <a:r>
              <a:rPr lang="en-US" sz="2000" kern="0" dirty="0" smtClean="0">
                <a:latin typeface="Lucida Sans Unicode" panose="020B0602030504020204" pitchFamily="34" charset="0"/>
                <a:cs typeface="Lucida Sans Unicode" panose="020B0602030504020204" pitchFamily="34" charset="0"/>
              </a:rPr>
              <a:t>;</a:t>
            </a:r>
            <a:r>
              <a:rPr lang="cs-CZ" sz="2000" kern="0" dirty="0" smtClean="0">
                <a:latin typeface="Lucida Sans Unicode" panose="020B0602030504020204" pitchFamily="34" charset="0"/>
                <a:cs typeface="Lucida Sans Unicode" panose="020B0602030504020204" pitchFamily="34" charset="0"/>
              </a:rPr>
              <a:t> </a:t>
            </a:r>
            <a:r>
              <a:rPr lang="cs-CZ" sz="1000" kern="0" dirty="0" smtClean="0">
                <a:latin typeface="Lucida Sans Unicode" panose="020B0602030504020204" pitchFamily="34" charset="0"/>
                <a:cs typeface="Lucida Sans Unicode" panose="020B0602030504020204" pitchFamily="34" charset="0"/>
              </a:rPr>
              <a:t>tento příkaz vrací všechny </a:t>
            </a:r>
            <a:r>
              <a:rPr lang="cs-CZ" sz="1000" kern="0" smtClean="0">
                <a:latin typeface="Lucida Sans Unicode" panose="020B0602030504020204" pitchFamily="34" charset="0"/>
                <a:cs typeface="Lucida Sans Unicode" panose="020B0602030504020204" pitchFamily="34" charset="0"/>
              </a:rPr>
              <a:t>kombinace součtů</a:t>
            </a:r>
            <a:endParaRPr kumimoji="0" lang="en-US" sz="1000" i="0" u="none" strike="noStrike" kern="0" cap="none" spc="0" normalizeH="0" baseline="0" noProof="0" dirty="0" smtClean="0">
              <a:ln>
                <a:noFill/>
              </a:ln>
              <a:effectLst/>
              <a:uLnTx/>
              <a:uFillTx/>
              <a:latin typeface="Lucida Sans Unicode" panose="020B0602030504020204" pitchFamily="34" charset="0"/>
              <a:cs typeface="Lucida Sans Unicode" panose="020B0602030504020204" pitchFamily="34" charset="0"/>
            </a:endParaRPr>
          </a:p>
        </p:txBody>
      </p:sp>
      <p:sp>
        <p:nvSpPr>
          <p:cNvPr id="7" name="AutoShape 3"/>
          <p:cNvSpPr>
            <a:spLocks noChangeArrowheads="1"/>
          </p:cNvSpPr>
          <p:nvPr/>
        </p:nvSpPr>
        <p:spPr bwMode="auto">
          <a:xfrm>
            <a:off x="1518942" y="2131677"/>
            <a:ext cx="9511008" cy="1374636"/>
          </a:xfrm>
          <a:prstGeom prst="roundRect">
            <a:avLst>
              <a:gd name="adj" fmla="val 7093"/>
            </a:avLst>
          </a:prstGeom>
          <a:solidFill>
            <a:srgbClr val="8DACD0">
              <a:lumMod val="20000"/>
              <a:lumOff val="80000"/>
            </a:srgbClr>
          </a:solidFill>
          <a:ln w="9525" algn="ctr">
            <a:solidFill>
              <a:srgbClr val="808080"/>
            </a:solidFill>
            <a:round/>
            <a:headEnd/>
            <a:tailEnd/>
          </a:ln>
          <a:effectLst>
            <a:outerShdw dist="35921" dir="2700000" algn="ctr" rotWithShape="0">
              <a:srgbClr val="C0C0C0"/>
            </a:outerShdw>
          </a:effectLst>
        </p:spPr>
        <p:txBody>
          <a:bodyPr wrap="square" anchor="ctr">
            <a:spAutoFit/>
          </a:bodyPr>
          <a:lstStyle/>
          <a:p>
            <a:pPr lvl="0" fontAlgn="base">
              <a:spcBef>
                <a:spcPct val="0"/>
              </a:spcBef>
              <a:spcAft>
                <a:spcPct val="0"/>
              </a:spcAft>
            </a:pPr>
            <a:r>
              <a:rPr lang="en-GB" sz="2000" kern="0" dirty="0">
                <a:latin typeface="Lucida Sans Unicode" panose="020B0602030504020204" pitchFamily="34" charset="0"/>
                <a:cs typeface="Lucida Sans Unicode" panose="020B0602030504020204" pitchFamily="34" charset="0"/>
              </a:rPr>
              <a:t>SELECT </a:t>
            </a:r>
            <a:r>
              <a:rPr lang="en-GB" sz="2000" kern="0" dirty="0" err="1">
                <a:latin typeface="Lucida Sans Unicode" panose="020B0602030504020204" pitchFamily="34" charset="0"/>
                <a:cs typeface="Lucida Sans Unicode" panose="020B0602030504020204" pitchFamily="34" charset="0"/>
              </a:rPr>
              <a:t>StateProvince</a:t>
            </a:r>
            <a:r>
              <a:rPr lang="en-GB" sz="2000" kern="0" dirty="0">
                <a:latin typeface="Lucida Sans Unicode" panose="020B0602030504020204" pitchFamily="34" charset="0"/>
                <a:cs typeface="Lucida Sans Unicode" panose="020B0602030504020204" pitchFamily="34" charset="0"/>
              </a:rPr>
              <a:t>, City, </a:t>
            </a:r>
            <a:r>
              <a:rPr lang="en-GB" sz="2000" kern="0" dirty="0" smtClean="0">
                <a:latin typeface="Lucida Sans Unicode" panose="020B0602030504020204" pitchFamily="34" charset="0"/>
                <a:cs typeface="Lucida Sans Unicode" panose="020B0602030504020204" pitchFamily="34" charset="0"/>
              </a:rPr>
              <a:t>COUNT(</a:t>
            </a:r>
            <a:r>
              <a:rPr lang="en-GB" sz="2000" kern="0" dirty="0" err="1" smtClean="0">
                <a:latin typeface="Lucida Sans Unicode" panose="020B0602030504020204" pitchFamily="34" charset="0"/>
                <a:cs typeface="Lucida Sans Unicode" panose="020B0602030504020204" pitchFamily="34" charset="0"/>
              </a:rPr>
              <a:t>CustomerID</a:t>
            </a:r>
            <a:r>
              <a:rPr lang="en-GB" sz="2000" kern="0" dirty="0">
                <a:latin typeface="Lucida Sans Unicode" panose="020B0602030504020204" pitchFamily="34" charset="0"/>
                <a:cs typeface="Lucida Sans Unicode" panose="020B0602030504020204" pitchFamily="34" charset="0"/>
              </a:rPr>
              <a:t>) AS </a:t>
            </a:r>
            <a:r>
              <a:rPr lang="en-GB" sz="2000" kern="0" dirty="0" smtClean="0">
                <a:latin typeface="Lucida Sans Unicode" panose="020B0602030504020204" pitchFamily="34" charset="0"/>
                <a:cs typeface="Lucida Sans Unicode" panose="020B0602030504020204" pitchFamily="34" charset="0"/>
              </a:rPr>
              <a:t>Customers</a:t>
            </a:r>
            <a:endParaRPr lang="en-GB" sz="2000" kern="0" dirty="0">
              <a:latin typeface="Lucida Sans Unicode" panose="020B0602030504020204" pitchFamily="34" charset="0"/>
              <a:cs typeface="Lucida Sans Unicode" panose="020B0602030504020204" pitchFamily="34" charset="0"/>
            </a:endParaRPr>
          </a:p>
          <a:p>
            <a:pPr lvl="0" fontAlgn="base">
              <a:spcBef>
                <a:spcPct val="0"/>
              </a:spcBef>
              <a:spcAft>
                <a:spcPct val="0"/>
              </a:spcAft>
            </a:pPr>
            <a:r>
              <a:rPr lang="en-GB" sz="2000" kern="0" dirty="0">
                <a:latin typeface="Lucida Sans Unicode" panose="020B0602030504020204" pitchFamily="34" charset="0"/>
                <a:cs typeface="Lucida Sans Unicode" panose="020B0602030504020204" pitchFamily="34" charset="0"/>
              </a:rPr>
              <a:t>FROM </a:t>
            </a:r>
            <a:r>
              <a:rPr lang="en-GB" sz="2000" kern="0" dirty="0" err="1" smtClean="0">
                <a:latin typeface="Lucida Sans Unicode" panose="020B0602030504020204" pitchFamily="34" charset="0"/>
                <a:cs typeface="Lucida Sans Unicode" panose="020B0602030504020204" pitchFamily="34" charset="0"/>
              </a:rPr>
              <a:t>Sales.vCustomerDetails</a:t>
            </a:r>
            <a:endParaRPr lang="en-GB" sz="2000" kern="0" dirty="0">
              <a:latin typeface="Lucida Sans Unicode" panose="020B0602030504020204" pitchFamily="34" charset="0"/>
              <a:cs typeface="Lucida Sans Unicode" panose="020B0602030504020204" pitchFamily="34" charset="0"/>
            </a:endParaRPr>
          </a:p>
          <a:p>
            <a:pPr lvl="0" fontAlgn="base">
              <a:spcBef>
                <a:spcPct val="0"/>
              </a:spcBef>
              <a:spcAft>
                <a:spcPct val="0"/>
              </a:spcAft>
            </a:pPr>
            <a:r>
              <a:rPr lang="en-GB" sz="2000" kern="0" dirty="0" smtClean="0">
                <a:latin typeface="Lucida Sans Unicode" panose="020B0602030504020204" pitchFamily="34" charset="0"/>
                <a:cs typeface="Lucida Sans Unicode" panose="020B0602030504020204" pitchFamily="34" charset="0"/>
              </a:rPr>
              <a:t>GROUP </a:t>
            </a:r>
            <a:r>
              <a:rPr lang="en-GB" sz="2000" kern="0" dirty="0">
                <a:latin typeface="Lucida Sans Unicode" panose="020B0602030504020204" pitchFamily="34" charset="0"/>
                <a:cs typeface="Lucida Sans Unicode" panose="020B0602030504020204" pitchFamily="34" charset="0"/>
              </a:rPr>
              <a:t>BY ROLLUP(</a:t>
            </a:r>
            <a:r>
              <a:rPr lang="en-GB" sz="2000" kern="0" dirty="0" err="1">
                <a:latin typeface="Lucida Sans Unicode" panose="020B0602030504020204" pitchFamily="34" charset="0"/>
                <a:cs typeface="Lucida Sans Unicode" panose="020B0602030504020204" pitchFamily="34" charset="0"/>
              </a:rPr>
              <a:t>StateProvince</a:t>
            </a:r>
            <a:r>
              <a:rPr lang="en-GB" sz="2000" kern="0" dirty="0">
                <a:latin typeface="Lucida Sans Unicode" panose="020B0602030504020204" pitchFamily="34" charset="0"/>
                <a:cs typeface="Lucida Sans Unicode" panose="020B0602030504020204" pitchFamily="34" charset="0"/>
              </a:rPr>
              <a:t>, City)</a:t>
            </a:r>
          </a:p>
          <a:p>
            <a:pPr lvl="0" fontAlgn="base">
              <a:spcBef>
                <a:spcPct val="0"/>
              </a:spcBef>
              <a:spcAft>
                <a:spcPct val="0"/>
              </a:spcAft>
            </a:pPr>
            <a:r>
              <a:rPr lang="en-GB" sz="2000" kern="0" dirty="0" smtClean="0">
                <a:latin typeface="Lucida Sans Unicode" panose="020B0602030504020204" pitchFamily="34" charset="0"/>
                <a:cs typeface="Lucida Sans Unicode" panose="020B0602030504020204" pitchFamily="34" charset="0"/>
              </a:rPr>
              <a:t>ORDER </a:t>
            </a:r>
            <a:r>
              <a:rPr lang="en-GB" sz="2000" kern="0" dirty="0">
                <a:latin typeface="Lucida Sans Unicode" panose="020B0602030504020204" pitchFamily="34" charset="0"/>
                <a:cs typeface="Lucida Sans Unicode" panose="020B0602030504020204" pitchFamily="34" charset="0"/>
              </a:rPr>
              <a:t>BY </a:t>
            </a:r>
            <a:r>
              <a:rPr lang="en-GB" sz="2000" kern="0" dirty="0" err="1">
                <a:latin typeface="Lucida Sans Unicode" panose="020B0602030504020204" pitchFamily="34" charset="0"/>
                <a:cs typeface="Lucida Sans Unicode" panose="020B0602030504020204" pitchFamily="34" charset="0"/>
              </a:rPr>
              <a:t>StateProvince</a:t>
            </a:r>
            <a:r>
              <a:rPr lang="en-GB" sz="2000" kern="0" dirty="0">
                <a:latin typeface="Lucida Sans Unicode" panose="020B0602030504020204" pitchFamily="34" charset="0"/>
                <a:cs typeface="Lucida Sans Unicode" panose="020B0602030504020204" pitchFamily="34" charset="0"/>
              </a:rPr>
              <a:t>, City;</a:t>
            </a:r>
          </a:p>
        </p:txBody>
      </p:sp>
    </p:spTree>
    <p:extLst>
      <p:ext uri="{BB962C8B-B14F-4D97-AF65-F5344CB8AC3E}">
        <p14:creationId xmlns:p14="http://schemas.microsoft.com/office/powerpoint/2010/main" xmlns="" val="42173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Identifying Groupings in Results</a:t>
            </a:r>
            <a:endParaRPr lang="en-GB" dirty="0"/>
          </a:p>
        </p:txBody>
      </p:sp>
      <p:sp>
        <p:nvSpPr>
          <p:cNvPr id="3" name="Content Placeholder 2"/>
          <p:cNvSpPr>
            <a:spLocks noGrp="1"/>
          </p:cNvSpPr>
          <p:nvPr>
            <p:ph sz="quarter" idx="10"/>
          </p:nvPr>
        </p:nvSpPr>
        <p:spPr>
          <a:xfrm>
            <a:off x="379413" y="864394"/>
            <a:ext cx="11525250" cy="5814220"/>
          </a:xfrm>
        </p:spPr>
        <p:txBody>
          <a:bodyPr/>
          <a:lstStyle/>
          <a:p>
            <a:pPr lvl="0"/>
            <a:r>
              <a:rPr lang="en-US" dirty="0">
                <a:solidFill>
                  <a:srgbClr val="000000"/>
                </a:solidFill>
              </a:rPr>
              <a:t>Multiple grouping sets present a problem in identifying the source of each row in the result set</a:t>
            </a:r>
          </a:p>
          <a:p>
            <a:pPr lvl="0"/>
            <a:r>
              <a:rPr lang="en-US" dirty="0">
                <a:solidFill>
                  <a:srgbClr val="000000"/>
                </a:solidFill>
              </a:rPr>
              <a:t>NULLs could come from the source data or could be a placeholder in the grouping set</a:t>
            </a:r>
          </a:p>
          <a:p>
            <a:pPr lvl="0"/>
            <a:r>
              <a:rPr lang="en-US" dirty="0">
                <a:solidFill>
                  <a:srgbClr val="000000"/>
                </a:solidFill>
              </a:rPr>
              <a:t>The GROUPING_ID function provides a method to mark a row with a 1 or 0 to identify which grouping set </a:t>
            </a:r>
            <a:r>
              <a:rPr lang="en-US" dirty="0" smtClean="0">
                <a:solidFill>
                  <a:srgbClr val="000000"/>
                </a:solidFill>
              </a:rPr>
              <a:t>for the row</a:t>
            </a:r>
            <a:endParaRPr lang="en-GB" dirty="0"/>
          </a:p>
        </p:txBody>
      </p:sp>
      <p:sp>
        <p:nvSpPr>
          <p:cNvPr id="4" name="AutoShape 3"/>
          <p:cNvSpPr>
            <a:spLocks noChangeArrowheads="1"/>
          </p:cNvSpPr>
          <p:nvPr/>
        </p:nvSpPr>
        <p:spPr bwMode="auto">
          <a:xfrm>
            <a:off x="1497511" y="4361796"/>
            <a:ext cx="9511008" cy="2014002"/>
          </a:xfrm>
          <a:prstGeom prst="roundRect">
            <a:avLst>
              <a:gd name="adj" fmla="val 7093"/>
            </a:avLst>
          </a:prstGeom>
          <a:solidFill>
            <a:srgbClr val="8DACD0">
              <a:lumMod val="20000"/>
              <a:lumOff val="80000"/>
            </a:srgbClr>
          </a:solidFill>
          <a:ln w="9525" algn="ctr">
            <a:solidFill>
              <a:srgbClr val="808080"/>
            </a:solidFill>
            <a:round/>
            <a:headEnd/>
            <a:tailEnd/>
          </a:ln>
          <a:effectLst>
            <a:outerShdw dist="35921" dir="2700000" algn="ctr" rotWithShape="0">
              <a:srgbClr val="C0C0C0"/>
            </a:outerShdw>
          </a:effectLst>
        </p:spPr>
        <p:txBody>
          <a:bodyPr wrap="square" anchor="ctr">
            <a:spAutoFit/>
          </a:bodyPr>
          <a:lstStyle/>
          <a:p>
            <a:pPr lvl="0" fontAlgn="base">
              <a:spcBef>
                <a:spcPct val="0"/>
              </a:spcBef>
              <a:spcAft>
                <a:spcPct val="0"/>
              </a:spcAft>
            </a:pPr>
            <a:r>
              <a:rPr lang="en-GB" sz="2000" kern="0" dirty="0" smtClean="0">
                <a:latin typeface="Lucida Sans Unicode" panose="020B0602030504020204" pitchFamily="34" charset="0"/>
                <a:cs typeface="Lucida Sans Unicode" panose="020B0602030504020204" pitchFamily="34" charset="0"/>
              </a:rPr>
              <a:t>SELECT GROUPING_ID(</a:t>
            </a:r>
            <a:r>
              <a:rPr lang="en-GB" sz="2000" kern="0" dirty="0" err="1" smtClean="0">
                <a:latin typeface="Lucida Sans Unicode" panose="020B0602030504020204" pitchFamily="34" charset="0"/>
                <a:cs typeface="Lucida Sans Unicode" panose="020B0602030504020204" pitchFamily="34" charset="0"/>
              </a:rPr>
              <a:t>SalesPersonName</a:t>
            </a:r>
            <a:r>
              <a:rPr lang="en-GB" sz="2000" kern="0" dirty="0" smtClean="0">
                <a:latin typeface="Lucida Sans Unicode" panose="020B0602030504020204" pitchFamily="34" charset="0"/>
                <a:cs typeface="Lucida Sans Unicode" panose="020B0602030504020204" pitchFamily="34" charset="0"/>
              </a:rPr>
              <a:t>) AS </a:t>
            </a:r>
            <a:r>
              <a:rPr lang="en-GB" sz="2000" kern="0" dirty="0" err="1" smtClean="0">
                <a:latin typeface="Lucida Sans Unicode" panose="020B0602030504020204" pitchFamily="34" charset="0"/>
                <a:cs typeface="Lucida Sans Unicode" panose="020B0602030504020204" pitchFamily="34" charset="0"/>
              </a:rPr>
              <a:t>SalesPersonGroup</a:t>
            </a:r>
            <a:r>
              <a:rPr lang="en-GB" sz="2000" kern="0" dirty="0" smtClean="0">
                <a:latin typeface="Lucida Sans Unicode" panose="020B0602030504020204" pitchFamily="34" charset="0"/>
                <a:cs typeface="Lucida Sans Unicode" panose="020B0602030504020204" pitchFamily="34" charset="0"/>
              </a:rPr>
              <a:t>,</a:t>
            </a:r>
          </a:p>
          <a:p>
            <a:pPr lvl="0" fontAlgn="base">
              <a:spcBef>
                <a:spcPct val="0"/>
              </a:spcBef>
              <a:spcAft>
                <a:spcPct val="0"/>
              </a:spcAft>
            </a:pPr>
            <a:r>
              <a:rPr lang="en-GB" sz="2000" kern="0" dirty="0" smtClean="0">
                <a:latin typeface="Lucida Sans Unicode" panose="020B0602030504020204" pitchFamily="34" charset="0"/>
                <a:cs typeface="Lucida Sans Unicode" panose="020B0602030504020204" pitchFamily="34" charset="0"/>
              </a:rPr>
              <a:t>	 GROUPING_ID(</a:t>
            </a:r>
            <a:r>
              <a:rPr lang="en-GB" sz="2000" kern="0" dirty="0" err="1" smtClean="0">
                <a:latin typeface="Lucida Sans Unicode" panose="020B0602030504020204" pitchFamily="34" charset="0"/>
                <a:cs typeface="Lucida Sans Unicode" panose="020B0602030504020204" pitchFamily="34" charset="0"/>
              </a:rPr>
              <a:t>CustomerName</a:t>
            </a:r>
            <a:r>
              <a:rPr lang="en-GB" sz="2000" kern="0" dirty="0" smtClean="0">
                <a:latin typeface="Lucida Sans Unicode" panose="020B0602030504020204" pitchFamily="34" charset="0"/>
                <a:cs typeface="Lucida Sans Unicode" panose="020B0602030504020204" pitchFamily="34" charset="0"/>
              </a:rPr>
              <a:t>) AS </a:t>
            </a:r>
            <a:r>
              <a:rPr lang="en-GB" sz="2000" kern="0" dirty="0" err="1" smtClean="0">
                <a:latin typeface="Lucida Sans Unicode" panose="020B0602030504020204" pitchFamily="34" charset="0"/>
                <a:cs typeface="Lucida Sans Unicode" panose="020B0602030504020204" pitchFamily="34" charset="0"/>
              </a:rPr>
              <a:t>CustomerGroup</a:t>
            </a:r>
            <a:r>
              <a:rPr lang="en-GB" sz="2000" kern="0" dirty="0" smtClean="0">
                <a:latin typeface="Lucida Sans Unicode" panose="020B0602030504020204" pitchFamily="34" charset="0"/>
                <a:cs typeface="Lucida Sans Unicode" panose="020B0602030504020204" pitchFamily="34" charset="0"/>
              </a:rPr>
              <a:t>,</a:t>
            </a:r>
          </a:p>
          <a:p>
            <a:pPr lvl="0" fontAlgn="base">
              <a:spcBef>
                <a:spcPct val="0"/>
              </a:spcBef>
              <a:spcAft>
                <a:spcPct val="0"/>
              </a:spcAft>
            </a:pPr>
            <a:r>
              <a:rPr lang="en-GB" sz="2000" kern="0" dirty="0" smtClean="0">
                <a:latin typeface="Lucida Sans Unicode" panose="020B0602030504020204" pitchFamily="34" charset="0"/>
                <a:cs typeface="Lucida Sans Unicode" panose="020B0602030504020204" pitchFamily="34" charset="0"/>
              </a:rPr>
              <a:t>	 </a:t>
            </a:r>
            <a:r>
              <a:rPr lang="en-GB" sz="2000" kern="0" dirty="0" err="1" smtClean="0">
                <a:latin typeface="Lucida Sans Unicode" panose="020B0602030504020204" pitchFamily="34" charset="0"/>
                <a:cs typeface="Lucida Sans Unicode" panose="020B0602030504020204" pitchFamily="34" charset="0"/>
              </a:rPr>
              <a:t>SalesPersonName</a:t>
            </a:r>
            <a:r>
              <a:rPr lang="en-GB" sz="2000" kern="0" dirty="0" smtClean="0">
                <a:latin typeface="Lucida Sans Unicode" panose="020B0602030504020204" pitchFamily="34" charset="0"/>
                <a:cs typeface="Lucida Sans Unicode" panose="020B0602030504020204" pitchFamily="34" charset="0"/>
              </a:rPr>
              <a:t>, </a:t>
            </a:r>
            <a:r>
              <a:rPr lang="en-GB" sz="2000" kern="0" dirty="0" err="1" smtClean="0">
                <a:latin typeface="Lucida Sans Unicode" panose="020B0602030504020204" pitchFamily="34" charset="0"/>
                <a:cs typeface="Lucida Sans Unicode" panose="020B0602030504020204" pitchFamily="34" charset="0"/>
              </a:rPr>
              <a:t>CustomerName</a:t>
            </a:r>
            <a:r>
              <a:rPr lang="en-GB" sz="2000" kern="0" dirty="0" smtClean="0">
                <a:latin typeface="Lucida Sans Unicode" panose="020B0602030504020204" pitchFamily="34" charset="0"/>
                <a:cs typeface="Lucida Sans Unicode" panose="020B0602030504020204" pitchFamily="34" charset="0"/>
              </a:rPr>
              <a:t>, </a:t>
            </a:r>
            <a:r>
              <a:rPr lang="en-GB" sz="2000" kern="0" dirty="0">
                <a:latin typeface="Lucida Sans Unicode" panose="020B0602030504020204" pitchFamily="34" charset="0"/>
                <a:cs typeface="Lucida Sans Unicode" panose="020B0602030504020204" pitchFamily="34" charset="0"/>
              </a:rPr>
              <a:t>SUM(Amount) AS </a:t>
            </a:r>
            <a:r>
              <a:rPr lang="en-GB" sz="2000" kern="0" dirty="0" err="1">
                <a:latin typeface="Lucida Sans Unicode" panose="020B0602030504020204" pitchFamily="34" charset="0"/>
                <a:cs typeface="Lucida Sans Unicode" panose="020B0602030504020204" pitchFamily="34" charset="0"/>
              </a:rPr>
              <a:t>TotalAmount</a:t>
            </a:r>
            <a:endParaRPr lang="en-GB" sz="2000" kern="0" dirty="0">
              <a:latin typeface="Lucida Sans Unicode" panose="020B0602030504020204" pitchFamily="34" charset="0"/>
              <a:cs typeface="Lucida Sans Unicode" panose="020B0602030504020204" pitchFamily="34" charset="0"/>
            </a:endParaRPr>
          </a:p>
          <a:p>
            <a:pPr lvl="0" fontAlgn="base">
              <a:spcBef>
                <a:spcPct val="0"/>
              </a:spcBef>
              <a:spcAft>
                <a:spcPct val="0"/>
              </a:spcAft>
            </a:pPr>
            <a:r>
              <a:rPr lang="en-GB" sz="2000" kern="0" dirty="0">
                <a:latin typeface="Lucida Sans Unicode" panose="020B0602030504020204" pitchFamily="34" charset="0"/>
                <a:cs typeface="Lucida Sans Unicode" panose="020B0602030504020204" pitchFamily="34" charset="0"/>
              </a:rPr>
              <a:t>FROM </a:t>
            </a:r>
            <a:r>
              <a:rPr lang="en-GB" sz="2000" kern="0" dirty="0" err="1" smtClean="0">
                <a:latin typeface="Lucida Sans Unicode" panose="020B0602030504020204" pitchFamily="34" charset="0"/>
                <a:cs typeface="Lucida Sans Unicode" panose="020B0602030504020204" pitchFamily="34" charset="0"/>
              </a:rPr>
              <a:t>Sales.vSalesOrders</a:t>
            </a:r>
            <a:endParaRPr lang="en-GB" sz="2000" kern="0" dirty="0">
              <a:latin typeface="Lucida Sans Unicode" panose="020B0602030504020204" pitchFamily="34" charset="0"/>
              <a:cs typeface="Lucida Sans Unicode" panose="020B0602030504020204" pitchFamily="34" charset="0"/>
            </a:endParaRPr>
          </a:p>
          <a:p>
            <a:pPr lvl="0" fontAlgn="base">
              <a:spcBef>
                <a:spcPct val="0"/>
              </a:spcBef>
              <a:spcAft>
                <a:spcPct val="0"/>
              </a:spcAft>
            </a:pPr>
            <a:r>
              <a:rPr kumimoji="0" lang="en-US" sz="2000" i="0" u="none" strike="noStrike" kern="0" cap="none" spc="0" normalizeH="0" baseline="0" noProof="0" dirty="0" smtClean="0">
                <a:ln>
                  <a:noFill/>
                </a:ln>
                <a:effectLst/>
                <a:uLnTx/>
                <a:uFillTx/>
                <a:latin typeface="Lucida Sans Unicode" panose="020B0602030504020204" pitchFamily="34" charset="0"/>
                <a:cs typeface="Lucida Sans Unicode" panose="020B0602030504020204" pitchFamily="34" charset="0"/>
              </a:rPr>
              <a:t>GROUP </a:t>
            </a:r>
            <a:r>
              <a:rPr lang="en-US" sz="2000" kern="0" dirty="0">
                <a:latin typeface="Lucida Sans Unicode" panose="020B0602030504020204" pitchFamily="34" charset="0"/>
                <a:cs typeface="Lucida Sans Unicode" panose="020B0602030504020204" pitchFamily="34" charset="0"/>
              </a:rPr>
              <a:t>BY </a:t>
            </a:r>
            <a:r>
              <a:rPr lang="en-US" sz="2000" kern="0" dirty="0" smtClean="0">
                <a:latin typeface="Lucida Sans Unicode" panose="020B0602030504020204" pitchFamily="34" charset="0"/>
                <a:cs typeface="Lucida Sans Unicode" panose="020B0602030504020204" pitchFamily="34" charset="0"/>
              </a:rPr>
              <a:t>CUBE(</a:t>
            </a:r>
            <a:r>
              <a:rPr lang="en-GB" sz="2000" kern="0" dirty="0" err="1">
                <a:latin typeface="Lucida Sans Unicode" panose="020B0602030504020204" pitchFamily="34" charset="0"/>
                <a:cs typeface="Lucida Sans Unicode" panose="020B0602030504020204" pitchFamily="34" charset="0"/>
              </a:rPr>
              <a:t>SalesPersonName</a:t>
            </a:r>
            <a:r>
              <a:rPr lang="en-GB" sz="2000" kern="0" dirty="0">
                <a:latin typeface="Lucida Sans Unicode" panose="020B0602030504020204" pitchFamily="34" charset="0"/>
                <a:cs typeface="Lucida Sans Unicode" panose="020B0602030504020204" pitchFamily="34" charset="0"/>
              </a:rPr>
              <a:t>, </a:t>
            </a:r>
            <a:r>
              <a:rPr lang="en-GB" sz="2000" kern="0" dirty="0" err="1">
                <a:latin typeface="Lucida Sans Unicode" panose="020B0602030504020204" pitchFamily="34" charset="0"/>
                <a:cs typeface="Lucida Sans Unicode" panose="020B0602030504020204" pitchFamily="34" charset="0"/>
              </a:rPr>
              <a:t>CustomerName</a:t>
            </a:r>
            <a:r>
              <a:rPr lang="en-US" sz="2000" kern="0" dirty="0" smtClean="0">
                <a:latin typeface="Lucida Sans Unicode" panose="020B0602030504020204" pitchFamily="34" charset="0"/>
                <a:cs typeface="Lucida Sans Unicode" panose="020B0602030504020204" pitchFamily="34" charset="0"/>
              </a:rPr>
              <a:t>)</a:t>
            </a:r>
            <a:endParaRPr kumimoji="0" lang="en-US" sz="2000" i="0" u="none" strike="noStrike" kern="0" cap="none" spc="0" normalizeH="0" baseline="0" noProof="0" dirty="0" smtClean="0">
              <a:ln>
                <a:noFill/>
              </a:ln>
              <a:effectLst/>
              <a:uLnTx/>
              <a:uFillTx/>
              <a:latin typeface="Lucida Sans Unicode" panose="020B0602030504020204" pitchFamily="34" charset="0"/>
              <a:cs typeface="Lucida Sans Unicode" panose="020B0602030504020204" pitchFamily="34" charset="0"/>
            </a:endParaRPr>
          </a:p>
          <a:p>
            <a:pPr lvl="0" fontAlgn="base">
              <a:spcBef>
                <a:spcPct val="0"/>
              </a:spcBef>
              <a:spcAft>
                <a:spcPct val="0"/>
              </a:spcAft>
            </a:pPr>
            <a:r>
              <a:rPr kumimoji="0" lang="en-US" sz="2000" i="0" u="none" strike="noStrike" kern="0" cap="none" spc="0" normalizeH="0" baseline="0" noProof="0" dirty="0" smtClean="0">
                <a:ln>
                  <a:noFill/>
                </a:ln>
                <a:effectLst/>
                <a:uLnTx/>
                <a:uFillTx/>
                <a:latin typeface="Lucida Sans Unicode" panose="020B0602030504020204" pitchFamily="34" charset="0"/>
                <a:cs typeface="Lucida Sans Unicode" panose="020B0602030504020204" pitchFamily="34" charset="0"/>
              </a:rPr>
              <a:t>ORDER </a:t>
            </a:r>
            <a:r>
              <a:rPr lang="en-US" sz="2000" kern="0" dirty="0">
                <a:latin typeface="Lucida Sans Unicode" panose="020B0602030504020204" pitchFamily="34" charset="0"/>
                <a:cs typeface="Lucida Sans Unicode" panose="020B0602030504020204" pitchFamily="34" charset="0"/>
              </a:rPr>
              <a:t>BY </a:t>
            </a:r>
            <a:r>
              <a:rPr lang="en-GB" sz="2000" kern="0" dirty="0" err="1">
                <a:latin typeface="Lucida Sans Unicode" panose="020B0602030504020204" pitchFamily="34" charset="0"/>
                <a:cs typeface="Lucida Sans Unicode" panose="020B0602030504020204" pitchFamily="34" charset="0"/>
              </a:rPr>
              <a:t>SalesPersonName</a:t>
            </a:r>
            <a:r>
              <a:rPr lang="en-GB" sz="2000" kern="0" dirty="0">
                <a:latin typeface="Lucida Sans Unicode" panose="020B0602030504020204" pitchFamily="34" charset="0"/>
                <a:cs typeface="Lucida Sans Unicode" panose="020B0602030504020204" pitchFamily="34" charset="0"/>
              </a:rPr>
              <a:t>, </a:t>
            </a:r>
            <a:r>
              <a:rPr lang="en-GB" sz="2000" kern="0" dirty="0" err="1">
                <a:latin typeface="Lucida Sans Unicode" panose="020B0602030504020204" pitchFamily="34" charset="0"/>
                <a:cs typeface="Lucida Sans Unicode" panose="020B0602030504020204" pitchFamily="34" charset="0"/>
              </a:rPr>
              <a:t>CustomerName</a:t>
            </a:r>
            <a:r>
              <a:rPr lang="en-US" sz="2000" kern="0" dirty="0" smtClean="0">
                <a:latin typeface="Lucida Sans Unicode" panose="020B0602030504020204" pitchFamily="34" charset="0"/>
                <a:cs typeface="Lucida Sans Unicode" panose="020B0602030504020204" pitchFamily="34" charset="0"/>
              </a:rPr>
              <a:t>;</a:t>
            </a:r>
            <a:endParaRPr kumimoji="0" lang="en-US" sz="2000" i="0" u="none" strike="noStrike" kern="0" cap="none" spc="0" normalizeH="0" baseline="0" noProof="0" dirty="0" smtClean="0">
              <a:ln>
                <a:noFill/>
              </a:ln>
              <a:effectLst/>
              <a:uLnTx/>
              <a:uFillTx/>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xmlns="" val="84539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Grouping Sets</a:t>
            </a:r>
            <a:endParaRPr lang="en-GB" dirty="0"/>
          </a:p>
        </p:txBody>
      </p:sp>
    </p:spTree>
    <p:extLst>
      <p:ext uri="{BB962C8B-B14F-4D97-AF65-F5344CB8AC3E}">
        <p14:creationId xmlns:p14="http://schemas.microsoft.com/office/powerpoint/2010/main" xmlns="" val="2122493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Pivoting Data</a:t>
            </a:r>
            <a:endParaRPr lang="en-GB" dirty="0"/>
          </a:p>
        </p:txBody>
      </p:sp>
      <p:sp>
        <p:nvSpPr>
          <p:cNvPr id="3" name="Content Placeholder 2"/>
          <p:cNvSpPr>
            <a:spLocks noGrp="1"/>
          </p:cNvSpPr>
          <p:nvPr>
            <p:ph sz="quarter" idx="10"/>
          </p:nvPr>
        </p:nvSpPr>
        <p:spPr>
          <a:xfrm>
            <a:off x="378696" y="941625"/>
            <a:ext cx="11525250" cy="5721351"/>
          </a:xfrm>
        </p:spPr>
        <p:txBody>
          <a:bodyPr/>
          <a:lstStyle/>
          <a:p>
            <a:r>
              <a:rPr lang="en-US" dirty="0"/>
              <a:t>Pivoting data is rotating data from a rows-based orientation to a columns-based orientation</a:t>
            </a:r>
          </a:p>
          <a:p>
            <a:r>
              <a:rPr lang="en-US" dirty="0"/>
              <a:t>Distinct values from a single column are projected across as headings for other columns—may include aggregation</a:t>
            </a:r>
          </a:p>
          <a:p>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xmlns="" val="2744920382"/>
              </p:ext>
            </p:extLst>
          </p:nvPr>
        </p:nvGraphicFramePr>
        <p:xfrm>
          <a:off x="96042" y="3330496"/>
          <a:ext cx="4532504" cy="3332480"/>
        </p:xfrm>
        <a:graphic>
          <a:graphicData uri="http://schemas.openxmlformats.org/drawingml/2006/table">
            <a:tbl>
              <a:tblPr firstRow="1" bandRow="1">
                <a:tableStyleId>{5C22544A-7EE6-4342-B048-85BDC9FD1C3A}</a:tableStyleId>
              </a:tblPr>
              <a:tblGrid>
                <a:gridCol w="989711"/>
                <a:gridCol w="1181799"/>
                <a:gridCol w="1308418"/>
                <a:gridCol w="1052576"/>
              </a:tblGrid>
              <a:tr h="318981">
                <a:tc>
                  <a:txBody>
                    <a:bodyPr/>
                    <a:lstStyle/>
                    <a:p>
                      <a:r>
                        <a:rPr lang="en-GB" dirty="0" err="1" smtClean="0"/>
                        <a:t>OrderID</a:t>
                      </a:r>
                      <a:endParaRPr lang="en-GB" dirty="0"/>
                    </a:p>
                  </a:txBody>
                  <a:tcPr/>
                </a:tc>
                <a:tc>
                  <a:txBody>
                    <a:bodyPr/>
                    <a:lstStyle/>
                    <a:p>
                      <a:r>
                        <a:rPr lang="en-GB" dirty="0" err="1" smtClean="0"/>
                        <a:t>ProductID</a:t>
                      </a:r>
                      <a:endParaRPr lang="en-GB" dirty="0"/>
                    </a:p>
                  </a:txBody>
                  <a:tcPr/>
                </a:tc>
                <a:tc>
                  <a:txBody>
                    <a:bodyPr/>
                    <a:lstStyle/>
                    <a:p>
                      <a:r>
                        <a:rPr lang="en-GB" dirty="0" smtClean="0"/>
                        <a:t>Category</a:t>
                      </a:r>
                      <a:endParaRPr lang="en-GB" dirty="0"/>
                    </a:p>
                  </a:txBody>
                  <a:tcPr/>
                </a:tc>
                <a:tc>
                  <a:txBody>
                    <a:bodyPr/>
                    <a:lstStyle/>
                    <a:p>
                      <a:r>
                        <a:rPr lang="en-GB" dirty="0" smtClean="0"/>
                        <a:t>Revenue</a:t>
                      </a:r>
                      <a:endParaRPr lang="en-GB" dirty="0"/>
                    </a:p>
                  </a:txBody>
                  <a:tcPr/>
                </a:tc>
              </a:tr>
              <a:tr h="370840">
                <a:tc>
                  <a:txBody>
                    <a:bodyPr/>
                    <a:lstStyle/>
                    <a:p>
                      <a:r>
                        <a:rPr lang="en-GB" dirty="0" smtClean="0"/>
                        <a:t>1023</a:t>
                      </a:r>
                      <a:endParaRPr lang="en-GB" dirty="0"/>
                    </a:p>
                  </a:txBody>
                  <a:tcPr/>
                </a:tc>
                <a:tc>
                  <a:txBody>
                    <a:bodyPr/>
                    <a:lstStyle/>
                    <a:p>
                      <a:r>
                        <a:rPr lang="en-GB" dirty="0" smtClean="0"/>
                        <a:t>1</a:t>
                      </a:r>
                      <a:endParaRPr lang="en-GB" dirty="0"/>
                    </a:p>
                  </a:txBody>
                  <a:tcPr/>
                </a:tc>
                <a:tc>
                  <a:txBody>
                    <a:bodyPr/>
                    <a:lstStyle/>
                    <a:p>
                      <a:r>
                        <a:rPr lang="en-GB" dirty="0" smtClean="0"/>
                        <a:t>Bikes</a:t>
                      </a:r>
                      <a:endParaRPr lang="en-GB" dirty="0"/>
                    </a:p>
                  </a:txBody>
                  <a:tcPr/>
                </a:tc>
                <a:tc>
                  <a:txBody>
                    <a:bodyPr/>
                    <a:lstStyle/>
                    <a:p>
                      <a:r>
                        <a:rPr lang="en-GB" dirty="0" smtClean="0"/>
                        <a:t>1078.75</a:t>
                      </a:r>
                      <a:endParaRPr lang="en-GB" dirty="0"/>
                    </a:p>
                  </a:txBody>
                  <a:tcPr/>
                </a:tc>
              </a:tr>
              <a:tr h="370840">
                <a:tc>
                  <a:txBody>
                    <a:bodyPr/>
                    <a:lstStyle/>
                    <a:p>
                      <a:r>
                        <a:rPr lang="en-GB" dirty="0" smtClean="0"/>
                        <a:t>1023</a:t>
                      </a:r>
                      <a:endParaRPr lang="en-GB" dirty="0"/>
                    </a:p>
                  </a:txBody>
                  <a:tcPr/>
                </a:tc>
                <a:tc>
                  <a:txBody>
                    <a:bodyPr/>
                    <a:lstStyle/>
                    <a:p>
                      <a:r>
                        <a:rPr lang="en-GB" dirty="0" smtClean="0"/>
                        <a:t>15</a:t>
                      </a:r>
                      <a:endParaRPr lang="en-GB" dirty="0"/>
                    </a:p>
                  </a:txBody>
                  <a:tcPr/>
                </a:tc>
                <a:tc>
                  <a:txBody>
                    <a:bodyPr/>
                    <a:lstStyle/>
                    <a:p>
                      <a:r>
                        <a:rPr lang="en-GB" dirty="0" smtClean="0"/>
                        <a:t>Accessories</a:t>
                      </a:r>
                      <a:endParaRPr lang="en-GB" dirty="0"/>
                    </a:p>
                  </a:txBody>
                  <a:tcPr/>
                </a:tc>
                <a:tc>
                  <a:txBody>
                    <a:bodyPr/>
                    <a:lstStyle/>
                    <a:p>
                      <a:r>
                        <a:rPr lang="en-GB" dirty="0" smtClean="0"/>
                        <a:t>52.00</a:t>
                      </a:r>
                      <a:endParaRPr lang="en-GB" dirty="0"/>
                    </a:p>
                  </a:txBody>
                  <a:tcPr/>
                </a:tc>
              </a:tr>
              <a:tr h="370840">
                <a:tc>
                  <a:txBody>
                    <a:bodyPr/>
                    <a:lstStyle/>
                    <a:p>
                      <a:r>
                        <a:rPr lang="en-GB" dirty="0" smtClean="0"/>
                        <a:t>1023</a:t>
                      </a:r>
                      <a:endParaRPr lang="en-GB" dirty="0"/>
                    </a:p>
                  </a:txBody>
                  <a:tcPr/>
                </a:tc>
                <a:tc>
                  <a:txBody>
                    <a:bodyPr/>
                    <a:lstStyle/>
                    <a:p>
                      <a:r>
                        <a:rPr lang="en-GB" dirty="0" smtClean="0"/>
                        <a:t>21</a:t>
                      </a:r>
                      <a:endParaRPr lang="en-GB" dirty="0"/>
                    </a:p>
                  </a:txBody>
                  <a:tcPr/>
                </a:tc>
                <a:tc>
                  <a:txBody>
                    <a:bodyPr/>
                    <a:lstStyle/>
                    <a:p>
                      <a:r>
                        <a:rPr lang="en-GB" dirty="0" smtClean="0"/>
                        <a:t>Accessories</a:t>
                      </a:r>
                      <a:endParaRPr lang="en-GB" dirty="0"/>
                    </a:p>
                  </a:txBody>
                  <a:tcPr/>
                </a:tc>
                <a:tc>
                  <a:txBody>
                    <a:bodyPr/>
                    <a:lstStyle/>
                    <a:p>
                      <a:r>
                        <a:rPr lang="en-GB" dirty="0" smtClean="0"/>
                        <a:t>124.90</a:t>
                      </a:r>
                      <a:endParaRPr lang="en-GB" dirty="0"/>
                    </a:p>
                  </a:txBody>
                  <a:tcPr/>
                </a:tc>
              </a:tr>
              <a:tr h="370840">
                <a:tc>
                  <a:txBody>
                    <a:bodyPr/>
                    <a:lstStyle/>
                    <a:p>
                      <a:r>
                        <a:rPr lang="en-GB" dirty="0" smtClean="0"/>
                        <a:t>1024</a:t>
                      </a:r>
                      <a:endParaRPr lang="en-GB" dirty="0"/>
                    </a:p>
                  </a:txBody>
                  <a:tcPr/>
                </a:tc>
                <a:tc>
                  <a:txBody>
                    <a:bodyPr/>
                    <a:lstStyle/>
                    <a:p>
                      <a:r>
                        <a:rPr lang="en-GB" dirty="0" smtClean="0"/>
                        <a:t>1</a:t>
                      </a:r>
                      <a:endParaRPr lang="en-GB" dirty="0"/>
                    </a:p>
                  </a:txBody>
                  <a:tcPr/>
                </a:tc>
                <a:tc>
                  <a:txBody>
                    <a:bodyPr/>
                    <a:lstStyle/>
                    <a:p>
                      <a:r>
                        <a:rPr lang="en-GB" dirty="0" smtClean="0"/>
                        <a:t>Bikes</a:t>
                      </a:r>
                      <a:endParaRPr lang="en-GB" dirty="0"/>
                    </a:p>
                  </a:txBody>
                  <a:tcPr/>
                </a:tc>
                <a:tc>
                  <a:txBody>
                    <a:bodyPr/>
                    <a:lstStyle/>
                    <a:p>
                      <a:r>
                        <a:rPr lang="en-GB" dirty="0" smtClean="0"/>
                        <a:t>2491.00</a:t>
                      </a:r>
                      <a:endParaRPr lang="en-GB" dirty="0"/>
                    </a:p>
                  </a:txBody>
                  <a:tcPr/>
                </a:tc>
              </a:tr>
              <a:tr h="370840">
                <a:tc>
                  <a:txBody>
                    <a:bodyPr/>
                    <a:lstStyle/>
                    <a:p>
                      <a:r>
                        <a:rPr lang="en-GB" dirty="0" smtClean="0"/>
                        <a:t>1025</a:t>
                      </a:r>
                      <a:endParaRPr lang="en-GB" dirty="0"/>
                    </a:p>
                  </a:txBody>
                  <a:tcPr/>
                </a:tc>
                <a:tc>
                  <a:txBody>
                    <a:bodyPr/>
                    <a:lstStyle/>
                    <a:p>
                      <a:r>
                        <a:rPr lang="en-GB" dirty="0" smtClean="0"/>
                        <a:t>3</a:t>
                      </a:r>
                      <a:endParaRPr lang="en-GB" dirty="0"/>
                    </a:p>
                  </a:txBody>
                  <a:tcPr/>
                </a:tc>
                <a:tc>
                  <a:txBody>
                    <a:bodyPr/>
                    <a:lstStyle/>
                    <a:p>
                      <a:r>
                        <a:rPr lang="en-GB" dirty="0" smtClean="0"/>
                        <a:t>Bikes</a:t>
                      </a:r>
                      <a:endParaRPr lang="en-GB" dirty="0"/>
                    </a:p>
                  </a:txBody>
                  <a:tcPr/>
                </a:tc>
                <a:tc>
                  <a:txBody>
                    <a:bodyPr/>
                    <a:lstStyle/>
                    <a:p>
                      <a:r>
                        <a:rPr lang="en-GB" dirty="0" smtClean="0"/>
                        <a:t>1067.49</a:t>
                      </a:r>
                      <a:endParaRPr lang="en-GB" dirty="0"/>
                    </a:p>
                  </a:txBody>
                  <a:tcPr/>
                </a:tc>
              </a:tr>
              <a:tr h="370840">
                <a:tc>
                  <a:txBody>
                    <a:bodyPr/>
                    <a:lstStyle/>
                    <a:p>
                      <a:r>
                        <a:rPr lang="en-GB" dirty="0" smtClean="0"/>
                        <a:t>1025</a:t>
                      </a:r>
                      <a:endParaRPr lang="en-GB" dirty="0"/>
                    </a:p>
                  </a:txBody>
                  <a:tcPr/>
                </a:tc>
                <a:tc>
                  <a:txBody>
                    <a:bodyPr/>
                    <a:lstStyle/>
                    <a:p>
                      <a:r>
                        <a:rPr lang="en-GB" dirty="0" smtClean="0"/>
                        <a:t>15</a:t>
                      </a:r>
                      <a:endParaRPr lang="en-GB" dirty="0"/>
                    </a:p>
                  </a:txBody>
                  <a:tcPr/>
                </a:tc>
                <a:tc>
                  <a:txBody>
                    <a:bodyPr/>
                    <a:lstStyle/>
                    <a:p>
                      <a:r>
                        <a:rPr lang="en-GB" dirty="0" smtClean="0"/>
                        <a:t>Accessories</a:t>
                      </a:r>
                      <a:endParaRPr lang="en-GB" dirty="0"/>
                    </a:p>
                  </a:txBody>
                  <a:tcPr/>
                </a:tc>
                <a:tc>
                  <a:txBody>
                    <a:bodyPr/>
                    <a:lstStyle/>
                    <a:p>
                      <a:r>
                        <a:rPr lang="en-GB" dirty="0" smtClean="0"/>
                        <a:t>125.99</a:t>
                      </a:r>
                      <a:endParaRPr lang="en-GB" dirty="0"/>
                    </a:p>
                  </a:txBody>
                  <a:tcPr/>
                </a:tc>
              </a:tr>
              <a:tr h="370840">
                <a:tc>
                  <a:txBody>
                    <a:bodyPr/>
                    <a:lstStyle/>
                    <a:p>
                      <a:r>
                        <a:rPr lang="en-GB" dirty="0" smtClean="0"/>
                        <a:t>1025</a:t>
                      </a:r>
                      <a:endParaRPr lang="en-GB" dirty="0"/>
                    </a:p>
                  </a:txBody>
                  <a:tcPr/>
                </a:tc>
                <a:tc>
                  <a:txBody>
                    <a:bodyPr/>
                    <a:lstStyle/>
                    <a:p>
                      <a:r>
                        <a:rPr lang="en-GB" dirty="0" smtClean="0"/>
                        <a:t>35</a:t>
                      </a:r>
                      <a:endParaRPr lang="en-GB" dirty="0"/>
                    </a:p>
                  </a:txBody>
                  <a:tcPr/>
                </a:tc>
                <a:tc>
                  <a:txBody>
                    <a:bodyPr/>
                    <a:lstStyle/>
                    <a:p>
                      <a:r>
                        <a:rPr lang="en-GB" dirty="0" smtClean="0"/>
                        <a:t>Clothing</a:t>
                      </a:r>
                      <a:endParaRPr lang="en-GB" dirty="0"/>
                    </a:p>
                  </a:txBody>
                  <a:tcPr/>
                </a:tc>
                <a:tc>
                  <a:txBody>
                    <a:bodyPr/>
                    <a:lstStyle/>
                    <a:p>
                      <a:r>
                        <a:rPr lang="en-GB" dirty="0" smtClean="0"/>
                        <a:t>26.57</a:t>
                      </a:r>
                      <a:endParaRPr lang="en-GB" dirty="0"/>
                    </a:p>
                  </a:txBody>
                  <a:tcPr/>
                </a:tc>
              </a:tr>
              <a:tr h="370840">
                <a:tc>
                  <a:txBody>
                    <a:bodyPr/>
                    <a:lstStyle/>
                    <a:p>
                      <a:r>
                        <a:rPr lang="en-GB" dirty="0" smtClean="0"/>
                        <a:t>1025</a:t>
                      </a:r>
                      <a:endParaRPr lang="en-GB" dirty="0"/>
                    </a:p>
                  </a:txBody>
                  <a:tcPr/>
                </a:tc>
                <a:tc>
                  <a:txBody>
                    <a:bodyPr/>
                    <a:lstStyle/>
                    <a:p>
                      <a:r>
                        <a:rPr lang="en-GB" dirty="0" smtClean="0"/>
                        <a:t>36</a:t>
                      </a:r>
                      <a:endParaRPr lang="en-GB" dirty="0"/>
                    </a:p>
                  </a:txBody>
                  <a:tcPr/>
                </a:tc>
                <a:tc>
                  <a:txBody>
                    <a:bodyPr/>
                    <a:lstStyle/>
                    <a:p>
                      <a:r>
                        <a:rPr lang="en-GB" dirty="0" smtClean="0"/>
                        <a:t>Clothing</a:t>
                      </a:r>
                      <a:endParaRPr lang="en-GB" dirty="0"/>
                    </a:p>
                  </a:txBody>
                  <a:tcPr/>
                </a:tc>
                <a:tc>
                  <a:txBody>
                    <a:bodyPr/>
                    <a:lstStyle/>
                    <a:p>
                      <a:r>
                        <a:rPr lang="en-GB" dirty="0" smtClean="0"/>
                        <a:t>5.78</a:t>
                      </a:r>
                      <a:endParaRPr lang="en-GB"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xmlns="" val="1457125102"/>
              </p:ext>
            </p:extLst>
          </p:nvPr>
        </p:nvGraphicFramePr>
        <p:xfrm>
          <a:off x="6999288" y="3315229"/>
          <a:ext cx="4956303" cy="1483360"/>
        </p:xfrm>
        <a:graphic>
          <a:graphicData uri="http://schemas.openxmlformats.org/drawingml/2006/table">
            <a:tbl>
              <a:tblPr firstRow="1" bandRow="1">
                <a:tableStyleId>{5C22544A-7EE6-4342-B048-85BDC9FD1C3A}</a:tableStyleId>
              </a:tblPr>
              <a:tblGrid>
                <a:gridCol w="1308418"/>
                <a:gridCol w="987743"/>
                <a:gridCol w="1322705"/>
                <a:gridCol w="1337437"/>
              </a:tblGrid>
              <a:tr h="370840">
                <a:tc>
                  <a:txBody>
                    <a:bodyPr/>
                    <a:lstStyle/>
                    <a:p>
                      <a:r>
                        <a:rPr lang="en-GB" dirty="0" err="1" smtClean="0"/>
                        <a:t>OrderID</a:t>
                      </a:r>
                      <a:endParaRPr lang="en-GB" dirty="0"/>
                    </a:p>
                  </a:txBody>
                  <a:tcPr/>
                </a:tc>
                <a:tc>
                  <a:txBody>
                    <a:bodyPr/>
                    <a:lstStyle/>
                    <a:p>
                      <a:r>
                        <a:rPr lang="en-GB" dirty="0" smtClean="0"/>
                        <a:t>Bikes</a:t>
                      </a:r>
                      <a:endParaRPr lang="en-GB" dirty="0"/>
                    </a:p>
                  </a:txBody>
                  <a:tcPr/>
                </a:tc>
                <a:tc>
                  <a:txBody>
                    <a:bodyPr/>
                    <a:lstStyle/>
                    <a:p>
                      <a:r>
                        <a:rPr lang="en-GB" dirty="0" smtClean="0"/>
                        <a:t>Accessories</a:t>
                      </a:r>
                      <a:endParaRPr lang="en-GB" dirty="0"/>
                    </a:p>
                  </a:txBody>
                  <a:tcPr/>
                </a:tc>
                <a:tc>
                  <a:txBody>
                    <a:bodyPr/>
                    <a:lstStyle/>
                    <a:p>
                      <a:r>
                        <a:rPr lang="en-GB" dirty="0" smtClean="0"/>
                        <a:t>Clothing</a:t>
                      </a:r>
                      <a:endParaRPr lang="en-GB" dirty="0"/>
                    </a:p>
                  </a:txBody>
                  <a:tcPr/>
                </a:tc>
              </a:tr>
              <a:tr h="370840">
                <a:tc>
                  <a:txBody>
                    <a:bodyPr/>
                    <a:lstStyle/>
                    <a:p>
                      <a:r>
                        <a:rPr lang="en-GB" dirty="0" smtClean="0"/>
                        <a:t>1023</a:t>
                      </a:r>
                      <a:endParaRPr lang="en-GB" dirty="0"/>
                    </a:p>
                  </a:txBody>
                  <a:tcPr/>
                </a:tc>
                <a:tc>
                  <a:txBody>
                    <a:bodyPr/>
                    <a:lstStyle/>
                    <a:p>
                      <a:pPr marL="0" marR="0" indent="0" algn="l" defTabSz="914088" rtl="0" eaLnBrk="1" fontAlgn="auto" latinLnBrk="0" hangingPunct="1">
                        <a:lnSpc>
                          <a:spcPct val="100000"/>
                        </a:lnSpc>
                        <a:spcBef>
                          <a:spcPts val="0"/>
                        </a:spcBef>
                        <a:spcAft>
                          <a:spcPts val="0"/>
                        </a:spcAft>
                        <a:buClrTx/>
                        <a:buSzTx/>
                        <a:buFontTx/>
                        <a:buNone/>
                        <a:tabLst/>
                        <a:defRPr/>
                      </a:pPr>
                      <a:r>
                        <a:rPr lang="en-GB" dirty="0" smtClean="0"/>
                        <a:t>1078.75</a:t>
                      </a:r>
                    </a:p>
                  </a:txBody>
                  <a:tcPr/>
                </a:tc>
                <a:tc>
                  <a:txBody>
                    <a:bodyPr/>
                    <a:lstStyle/>
                    <a:p>
                      <a:r>
                        <a:rPr lang="en-GB" dirty="0" smtClean="0"/>
                        <a:t>176.90</a:t>
                      </a:r>
                      <a:endParaRPr lang="en-GB" dirty="0"/>
                    </a:p>
                  </a:txBody>
                  <a:tcPr/>
                </a:tc>
                <a:tc>
                  <a:txBody>
                    <a:bodyPr/>
                    <a:lstStyle/>
                    <a:p>
                      <a:r>
                        <a:rPr lang="en-GB" i="1" dirty="0" smtClean="0">
                          <a:solidFill>
                            <a:schemeClr val="bg1">
                              <a:lumMod val="50000"/>
                            </a:schemeClr>
                          </a:solidFill>
                        </a:rPr>
                        <a:t>NULL</a:t>
                      </a:r>
                      <a:endParaRPr lang="en-GB" i="1" dirty="0">
                        <a:solidFill>
                          <a:schemeClr val="bg1">
                            <a:lumMod val="50000"/>
                          </a:schemeClr>
                        </a:solidFill>
                      </a:endParaRPr>
                    </a:p>
                  </a:txBody>
                  <a:tcPr/>
                </a:tc>
              </a:tr>
              <a:tr h="370840">
                <a:tc>
                  <a:txBody>
                    <a:bodyPr/>
                    <a:lstStyle/>
                    <a:p>
                      <a:r>
                        <a:rPr lang="en-GB" dirty="0" smtClean="0"/>
                        <a:t>1024</a:t>
                      </a:r>
                      <a:endParaRPr lang="en-GB" dirty="0"/>
                    </a:p>
                  </a:txBody>
                  <a:tcPr/>
                </a:tc>
                <a:tc>
                  <a:txBody>
                    <a:bodyPr/>
                    <a:lstStyle/>
                    <a:p>
                      <a:r>
                        <a:rPr lang="en-GB" dirty="0" smtClean="0"/>
                        <a:t>2491.00</a:t>
                      </a:r>
                      <a:endParaRPr lang="en-GB" dirty="0"/>
                    </a:p>
                  </a:txBody>
                  <a:tcPr/>
                </a:tc>
                <a:tc>
                  <a:txBody>
                    <a:bodyPr/>
                    <a:lstStyle/>
                    <a:p>
                      <a:r>
                        <a:rPr lang="en-GB" i="1" dirty="0" smtClean="0">
                          <a:solidFill>
                            <a:schemeClr val="bg1">
                              <a:lumMod val="50000"/>
                            </a:schemeClr>
                          </a:solidFill>
                        </a:rPr>
                        <a:t>NULL</a:t>
                      </a:r>
                      <a:endParaRPr lang="en-GB" i="1" dirty="0">
                        <a:solidFill>
                          <a:schemeClr val="bg1">
                            <a:lumMod val="50000"/>
                          </a:schemeClr>
                        </a:solidFill>
                      </a:endParaRPr>
                    </a:p>
                  </a:txBody>
                  <a:tcPr/>
                </a:tc>
                <a:tc>
                  <a:txBody>
                    <a:bodyPr/>
                    <a:lstStyle/>
                    <a:p>
                      <a:r>
                        <a:rPr lang="en-GB" i="1" dirty="0" smtClean="0">
                          <a:solidFill>
                            <a:schemeClr val="bg1">
                              <a:lumMod val="50000"/>
                            </a:schemeClr>
                          </a:solidFill>
                        </a:rPr>
                        <a:t>NULL</a:t>
                      </a:r>
                      <a:endParaRPr lang="en-GB" i="1" dirty="0">
                        <a:solidFill>
                          <a:schemeClr val="bg1">
                            <a:lumMod val="50000"/>
                          </a:schemeClr>
                        </a:solidFill>
                      </a:endParaRPr>
                    </a:p>
                  </a:txBody>
                  <a:tcPr/>
                </a:tc>
              </a:tr>
              <a:tr h="370840">
                <a:tc>
                  <a:txBody>
                    <a:bodyPr/>
                    <a:lstStyle/>
                    <a:p>
                      <a:r>
                        <a:rPr lang="en-GB" dirty="0" smtClean="0"/>
                        <a:t>1025</a:t>
                      </a:r>
                      <a:endParaRPr lang="en-GB" dirty="0"/>
                    </a:p>
                  </a:txBody>
                  <a:tcPr/>
                </a:tc>
                <a:tc>
                  <a:txBody>
                    <a:bodyPr/>
                    <a:lstStyle/>
                    <a:p>
                      <a:r>
                        <a:rPr lang="en-GB" dirty="0" smtClean="0"/>
                        <a:t>1067.49</a:t>
                      </a:r>
                      <a:endParaRPr lang="en-GB" dirty="0"/>
                    </a:p>
                  </a:txBody>
                  <a:tcPr/>
                </a:tc>
                <a:tc>
                  <a:txBody>
                    <a:bodyPr/>
                    <a:lstStyle/>
                    <a:p>
                      <a:r>
                        <a:rPr lang="en-GB" dirty="0" smtClean="0"/>
                        <a:t>125.99</a:t>
                      </a:r>
                      <a:endParaRPr lang="en-GB" dirty="0"/>
                    </a:p>
                  </a:txBody>
                  <a:tcPr/>
                </a:tc>
                <a:tc>
                  <a:txBody>
                    <a:bodyPr/>
                    <a:lstStyle/>
                    <a:p>
                      <a:r>
                        <a:rPr lang="en-GB" dirty="0" smtClean="0"/>
                        <a:t>32.35</a:t>
                      </a:r>
                      <a:endParaRPr lang="en-GB" dirty="0"/>
                    </a:p>
                  </a:txBody>
                  <a:tcPr/>
                </a:tc>
              </a:tr>
            </a:tbl>
          </a:graphicData>
        </a:graphic>
      </p:graphicFrame>
      <p:sp>
        <p:nvSpPr>
          <p:cNvPr id="8" name="Bent-Up Arrow 7"/>
          <p:cNvSpPr/>
          <p:nvPr/>
        </p:nvSpPr>
        <p:spPr>
          <a:xfrm>
            <a:off x="4629150" y="4786313"/>
            <a:ext cx="4586288" cy="1074654"/>
          </a:xfrm>
          <a:prstGeom prst="bentUp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GB" dirty="0"/>
          </a:p>
        </p:txBody>
      </p:sp>
      <p:sp>
        <p:nvSpPr>
          <p:cNvPr id="9" name="TextBox 8"/>
          <p:cNvSpPr txBox="1"/>
          <p:nvPr/>
        </p:nvSpPr>
        <p:spPr>
          <a:xfrm>
            <a:off x="4858299" y="5249047"/>
            <a:ext cx="7045647" cy="1077218"/>
          </a:xfrm>
          <a:prstGeom prst="rect">
            <a:avLst/>
          </a:prstGeom>
          <a:solidFill>
            <a:schemeClr val="accent1">
              <a:lumMod val="20000"/>
              <a:lumOff val="80000"/>
            </a:schemeClr>
          </a:solidFill>
        </p:spPr>
        <p:txBody>
          <a:bodyPr wrap="none" rtlCol="0">
            <a:spAutoFit/>
          </a:bodyPr>
          <a:lstStyle/>
          <a:p>
            <a:r>
              <a:rPr lang="en-GB" sz="1600" dirty="0" smtClean="0"/>
              <a:t>SELECT </a:t>
            </a:r>
            <a:r>
              <a:rPr lang="en-GB" sz="1600" dirty="0" err="1" smtClean="0"/>
              <a:t>OrderID</a:t>
            </a:r>
            <a:r>
              <a:rPr lang="en-GB" sz="1600" dirty="0" smtClean="0"/>
              <a:t>, Bikes, Accessories, Clothing</a:t>
            </a:r>
          </a:p>
          <a:p>
            <a:r>
              <a:rPr lang="en-GB" sz="1600" dirty="0" smtClean="0"/>
              <a:t>FROM</a:t>
            </a:r>
          </a:p>
          <a:p>
            <a:pPr lvl="1"/>
            <a:r>
              <a:rPr lang="en-GB" sz="1600" dirty="0" smtClean="0"/>
              <a:t>(SELECT </a:t>
            </a:r>
            <a:r>
              <a:rPr lang="en-GB" sz="1600" dirty="0" err="1" smtClean="0"/>
              <a:t>OrderID</a:t>
            </a:r>
            <a:r>
              <a:rPr lang="en-GB" sz="1600" dirty="0" smtClean="0"/>
              <a:t>, Category, Revenue FROM </a:t>
            </a:r>
            <a:r>
              <a:rPr lang="en-GB" sz="1600" dirty="0" err="1" smtClean="0"/>
              <a:t>Sales.SalesDetails</a:t>
            </a:r>
            <a:r>
              <a:rPr lang="en-GB" sz="1600" dirty="0" smtClean="0"/>
              <a:t>) AS sales</a:t>
            </a:r>
          </a:p>
          <a:p>
            <a:r>
              <a:rPr lang="en-GB" sz="1600" b="1" dirty="0" smtClean="0"/>
              <a:t>PIVOT (SUM(Revenue) FOR Category IN([Bikes], [Accessories], [Clothing])) AS </a:t>
            </a:r>
            <a:r>
              <a:rPr lang="en-GB" sz="1600" b="1" dirty="0" err="1" smtClean="0"/>
              <a:t>pvt</a:t>
            </a:r>
            <a:endParaRPr lang="en-GB" sz="1600" b="1" dirty="0"/>
          </a:p>
        </p:txBody>
      </p:sp>
    </p:spTree>
    <p:extLst>
      <p:ext uri="{BB962C8B-B14F-4D97-AF65-F5344CB8AC3E}">
        <p14:creationId xmlns:p14="http://schemas.microsoft.com/office/powerpoint/2010/main" xmlns="" val="70325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par>
                          <p:cTn id="13" fill="hold">
                            <p:stCondLst>
                              <p:cond delay="0"/>
                            </p:stCondLst>
                            <p:childTnLst>
                              <p:par>
                                <p:cTn id="14" presetID="22" presetClass="entr" presetSubtype="8"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Unpivoting</a:t>
            </a:r>
            <a:r>
              <a:rPr lang="en-GB" dirty="0" smtClean="0"/>
              <a:t> Data</a:t>
            </a:r>
            <a:endParaRPr lang="en-GB" dirty="0"/>
          </a:p>
        </p:txBody>
      </p:sp>
      <p:sp>
        <p:nvSpPr>
          <p:cNvPr id="3" name="Content Placeholder 2"/>
          <p:cNvSpPr>
            <a:spLocks noGrp="1"/>
          </p:cNvSpPr>
          <p:nvPr>
            <p:ph sz="quarter" idx="10"/>
          </p:nvPr>
        </p:nvSpPr>
        <p:spPr>
          <a:xfrm>
            <a:off x="379413" y="796413"/>
            <a:ext cx="11525250" cy="5882201"/>
          </a:xfrm>
        </p:spPr>
        <p:txBody>
          <a:bodyPr/>
          <a:lstStyle/>
          <a:p>
            <a:pPr lvl="0"/>
            <a:r>
              <a:rPr lang="en-US" dirty="0" err="1">
                <a:solidFill>
                  <a:srgbClr val="000000"/>
                </a:solidFill>
              </a:rPr>
              <a:t>Unpivoting</a:t>
            </a:r>
            <a:r>
              <a:rPr lang="en-US" dirty="0">
                <a:solidFill>
                  <a:srgbClr val="000000"/>
                </a:solidFill>
              </a:rPr>
              <a:t> data is rotating data from a columns-based orientation to a rows-based orientation</a:t>
            </a:r>
          </a:p>
          <a:p>
            <a:pPr lvl="0"/>
            <a:r>
              <a:rPr lang="en-US" dirty="0">
                <a:solidFill>
                  <a:srgbClr val="000000"/>
                </a:solidFill>
              </a:rPr>
              <a:t>Spreads or splits values from one source row into one or more target rows</a:t>
            </a:r>
          </a:p>
          <a:p>
            <a:pPr lvl="0"/>
            <a:r>
              <a:rPr lang="en-US" dirty="0">
                <a:solidFill>
                  <a:srgbClr val="000000"/>
                </a:solidFill>
              </a:rPr>
              <a:t>Each source row becomes one or more rows in result set based on number of columns being pivoted</a:t>
            </a:r>
          </a:p>
        </p:txBody>
      </p:sp>
      <p:graphicFrame>
        <p:nvGraphicFramePr>
          <p:cNvPr id="5" name="Table 4"/>
          <p:cNvGraphicFramePr>
            <a:graphicFrameLocks noGrp="1"/>
          </p:cNvGraphicFramePr>
          <p:nvPr>
            <p:extLst>
              <p:ext uri="{D42A27DB-BD31-4B8C-83A1-F6EECF244321}">
                <p14:modId xmlns:p14="http://schemas.microsoft.com/office/powerpoint/2010/main" xmlns="" val="2387791035"/>
              </p:ext>
            </p:extLst>
          </p:nvPr>
        </p:nvGraphicFramePr>
        <p:xfrm>
          <a:off x="8366122" y="4087814"/>
          <a:ext cx="3350705" cy="2590800"/>
        </p:xfrm>
        <a:graphic>
          <a:graphicData uri="http://schemas.openxmlformats.org/drawingml/2006/table">
            <a:tbl>
              <a:tblPr firstRow="1" bandRow="1">
                <a:tableStyleId>{5C22544A-7EE6-4342-B048-85BDC9FD1C3A}</a:tableStyleId>
              </a:tblPr>
              <a:tblGrid>
                <a:gridCol w="989711"/>
                <a:gridCol w="1308418"/>
                <a:gridCol w="1052576"/>
              </a:tblGrid>
              <a:tr h="318981">
                <a:tc>
                  <a:txBody>
                    <a:bodyPr/>
                    <a:lstStyle/>
                    <a:p>
                      <a:r>
                        <a:rPr lang="en-GB" dirty="0" err="1" smtClean="0"/>
                        <a:t>OrderID</a:t>
                      </a:r>
                      <a:endParaRPr lang="en-GB" dirty="0"/>
                    </a:p>
                  </a:txBody>
                  <a:tcPr/>
                </a:tc>
                <a:tc>
                  <a:txBody>
                    <a:bodyPr/>
                    <a:lstStyle/>
                    <a:p>
                      <a:r>
                        <a:rPr lang="en-GB" dirty="0" smtClean="0"/>
                        <a:t>Category</a:t>
                      </a:r>
                      <a:endParaRPr lang="en-GB" dirty="0"/>
                    </a:p>
                  </a:txBody>
                  <a:tcPr/>
                </a:tc>
                <a:tc>
                  <a:txBody>
                    <a:bodyPr/>
                    <a:lstStyle/>
                    <a:p>
                      <a:r>
                        <a:rPr lang="en-GB" dirty="0" smtClean="0"/>
                        <a:t>Revenue</a:t>
                      </a:r>
                      <a:endParaRPr lang="en-GB" dirty="0"/>
                    </a:p>
                  </a:txBody>
                  <a:tcPr/>
                </a:tc>
              </a:tr>
              <a:tr h="370840">
                <a:tc>
                  <a:txBody>
                    <a:bodyPr/>
                    <a:lstStyle/>
                    <a:p>
                      <a:r>
                        <a:rPr lang="en-GB" dirty="0" smtClean="0"/>
                        <a:t>1023</a:t>
                      </a:r>
                      <a:endParaRPr lang="en-GB" dirty="0"/>
                    </a:p>
                  </a:txBody>
                  <a:tcPr/>
                </a:tc>
                <a:tc>
                  <a:txBody>
                    <a:bodyPr/>
                    <a:lstStyle/>
                    <a:p>
                      <a:r>
                        <a:rPr lang="en-GB" dirty="0" smtClean="0"/>
                        <a:t>Bikes</a:t>
                      </a:r>
                      <a:endParaRPr lang="en-GB" dirty="0"/>
                    </a:p>
                  </a:txBody>
                  <a:tcPr/>
                </a:tc>
                <a:tc>
                  <a:txBody>
                    <a:bodyPr/>
                    <a:lstStyle/>
                    <a:p>
                      <a:r>
                        <a:rPr lang="en-GB" dirty="0" smtClean="0"/>
                        <a:t>1078.75</a:t>
                      </a:r>
                      <a:endParaRPr lang="en-GB" dirty="0"/>
                    </a:p>
                  </a:txBody>
                  <a:tcPr/>
                </a:tc>
              </a:tr>
              <a:tr h="370840">
                <a:tc>
                  <a:txBody>
                    <a:bodyPr/>
                    <a:lstStyle/>
                    <a:p>
                      <a:r>
                        <a:rPr lang="en-GB" dirty="0" smtClean="0"/>
                        <a:t>1023</a:t>
                      </a:r>
                      <a:endParaRPr lang="en-GB" dirty="0"/>
                    </a:p>
                  </a:txBody>
                  <a:tcPr/>
                </a:tc>
                <a:tc>
                  <a:txBody>
                    <a:bodyPr/>
                    <a:lstStyle/>
                    <a:p>
                      <a:r>
                        <a:rPr lang="en-GB" dirty="0" smtClean="0"/>
                        <a:t>Accessories</a:t>
                      </a:r>
                      <a:endParaRPr lang="en-GB" dirty="0"/>
                    </a:p>
                  </a:txBody>
                  <a:tcPr/>
                </a:tc>
                <a:tc>
                  <a:txBody>
                    <a:bodyPr/>
                    <a:lstStyle/>
                    <a:p>
                      <a:r>
                        <a:rPr lang="en-GB" dirty="0" smtClean="0"/>
                        <a:t>176.90</a:t>
                      </a:r>
                      <a:endParaRPr lang="en-GB" dirty="0"/>
                    </a:p>
                  </a:txBody>
                  <a:tcPr/>
                </a:tc>
              </a:tr>
              <a:tr h="370840">
                <a:tc>
                  <a:txBody>
                    <a:bodyPr/>
                    <a:lstStyle/>
                    <a:p>
                      <a:r>
                        <a:rPr lang="en-GB" dirty="0" smtClean="0"/>
                        <a:t>1024</a:t>
                      </a:r>
                      <a:endParaRPr lang="en-GB" dirty="0"/>
                    </a:p>
                  </a:txBody>
                  <a:tcPr/>
                </a:tc>
                <a:tc>
                  <a:txBody>
                    <a:bodyPr/>
                    <a:lstStyle/>
                    <a:p>
                      <a:r>
                        <a:rPr lang="en-GB" dirty="0" smtClean="0"/>
                        <a:t>Bikes</a:t>
                      </a:r>
                      <a:endParaRPr lang="en-GB" dirty="0"/>
                    </a:p>
                  </a:txBody>
                  <a:tcPr/>
                </a:tc>
                <a:tc>
                  <a:txBody>
                    <a:bodyPr/>
                    <a:lstStyle/>
                    <a:p>
                      <a:r>
                        <a:rPr lang="en-GB" dirty="0" smtClean="0"/>
                        <a:t>2491.00</a:t>
                      </a:r>
                      <a:endParaRPr lang="en-GB" dirty="0"/>
                    </a:p>
                  </a:txBody>
                  <a:tcPr/>
                </a:tc>
              </a:tr>
              <a:tr h="370840">
                <a:tc>
                  <a:txBody>
                    <a:bodyPr/>
                    <a:lstStyle/>
                    <a:p>
                      <a:r>
                        <a:rPr lang="en-GB" dirty="0" smtClean="0"/>
                        <a:t>1025</a:t>
                      </a:r>
                      <a:endParaRPr lang="en-GB" dirty="0"/>
                    </a:p>
                  </a:txBody>
                  <a:tcPr/>
                </a:tc>
                <a:tc>
                  <a:txBody>
                    <a:bodyPr/>
                    <a:lstStyle/>
                    <a:p>
                      <a:r>
                        <a:rPr lang="en-GB" dirty="0" smtClean="0"/>
                        <a:t>Bikes</a:t>
                      </a:r>
                      <a:endParaRPr lang="en-GB" dirty="0"/>
                    </a:p>
                  </a:txBody>
                  <a:tcPr/>
                </a:tc>
                <a:tc>
                  <a:txBody>
                    <a:bodyPr/>
                    <a:lstStyle/>
                    <a:p>
                      <a:r>
                        <a:rPr lang="en-GB" dirty="0" smtClean="0"/>
                        <a:t>1067.49</a:t>
                      </a:r>
                      <a:endParaRPr lang="en-GB" dirty="0"/>
                    </a:p>
                  </a:txBody>
                  <a:tcPr/>
                </a:tc>
              </a:tr>
              <a:tr h="370840">
                <a:tc>
                  <a:txBody>
                    <a:bodyPr/>
                    <a:lstStyle/>
                    <a:p>
                      <a:r>
                        <a:rPr lang="en-GB" dirty="0" smtClean="0"/>
                        <a:t>1025</a:t>
                      </a:r>
                      <a:endParaRPr lang="en-GB" dirty="0"/>
                    </a:p>
                  </a:txBody>
                  <a:tcPr/>
                </a:tc>
                <a:tc>
                  <a:txBody>
                    <a:bodyPr/>
                    <a:lstStyle/>
                    <a:p>
                      <a:r>
                        <a:rPr lang="en-GB" dirty="0" smtClean="0"/>
                        <a:t>Accessories</a:t>
                      </a:r>
                      <a:endParaRPr lang="en-GB" dirty="0"/>
                    </a:p>
                  </a:txBody>
                  <a:tcPr/>
                </a:tc>
                <a:tc>
                  <a:txBody>
                    <a:bodyPr/>
                    <a:lstStyle/>
                    <a:p>
                      <a:r>
                        <a:rPr lang="en-GB" dirty="0" smtClean="0"/>
                        <a:t>125.99</a:t>
                      </a:r>
                      <a:endParaRPr lang="en-GB" dirty="0"/>
                    </a:p>
                  </a:txBody>
                  <a:tcPr/>
                </a:tc>
              </a:tr>
              <a:tr h="370840">
                <a:tc>
                  <a:txBody>
                    <a:bodyPr/>
                    <a:lstStyle/>
                    <a:p>
                      <a:r>
                        <a:rPr lang="en-GB" dirty="0" smtClean="0"/>
                        <a:t>1025</a:t>
                      </a:r>
                      <a:endParaRPr lang="en-GB" dirty="0"/>
                    </a:p>
                  </a:txBody>
                  <a:tcPr/>
                </a:tc>
                <a:tc>
                  <a:txBody>
                    <a:bodyPr/>
                    <a:lstStyle/>
                    <a:p>
                      <a:r>
                        <a:rPr lang="en-GB" dirty="0" smtClean="0"/>
                        <a:t>Clothing</a:t>
                      </a:r>
                      <a:endParaRPr lang="en-GB" dirty="0"/>
                    </a:p>
                  </a:txBody>
                  <a:tcPr/>
                </a:tc>
                <a:tc>
                  <a:txBody>
                    <a:bodyPr/>
                    <a:lstStyle/>
                    <a:p>
                      <a:r>
                        <a:rPr lang="en-GB" dirty="0" smtClean="0"/>
                        <a:t>32.35</a:t>
                      </a:r>
                      <a:endParaRPr lang="en-GB" dirty="0"/>
                    </a:p>
                  </a:txBody>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4120509174"/>
              </p:ext>
            </p:extLst>
          </p:nvPr>
        </p:nvGraphicFramePr>
        <p:xfrm>
          <a:off x="379413" y="4135520"/>
          <a:ext cx="4956303" cy="1488532"/>
        </p:xfrm>
        <a:graphic>
          <a:graphicData uri="http://schemas.openxmlformats.org/drawingml/2006/table">
            <a:tbl>
              <a:tblPr firstRow="1" bandRow="1">
                <a:tableStyleId>{5C22544A-7EE6-4342-B048-85BDC9FD1C3A}</a:tableStyleId>
              </a:tblPr>
              <a:tblGrid>
                <a:gridCol w="1308418"/>
                <a:gridCol w="987743"/>
                <a:gridCol w="1322705"/>
                <a:gridCol w="1337437"/>
              </a:tblGrid>
              <a:tr h="370840">
                <a:tc>
                  <a:txBody>
                    <a:bodyPr/>
                    <a:lstStyle/>
                    <a:p>
                      <a:r>
                        <a:rPr lang="en-GB" dirty="0" err="1" smtClean="0"/>
                        <a:t>OrderID</a:t>
                      </a:r>
                      <a:endParaRPr lang="en-GB" dirty="0"/>
                    </a:p>
                  </a:txBody>
                  <a:tcPr/>
                </a:tc>
                <a:tc>
                  <a:txBody>
                    <a:bodyPr/>
                    <a:lstStyle/>
                    <a:p>
                      <a:r>
                        <a:rPr lang="en-GB" dirty="0" smtClean="0"/>
                        <a:t>Bikes</a:t>
                      </a:r>
                      <a:endParaRPr lang="en-GB" dirty="0"/>
                    </a:p>
                  </a:txBody>
                  <a:tcPr/>
                </a:tc>
                <a:tc>
                  <a:txBody>
                    <a:bodyPr/>
                    <a:lstStyle/>
                    <a:p>
                      <a:r>
                        <a:rPr lang="en-GB" dirty="0" smtClean="0"/>
                        <a:t>Accessories</a:t>
                      </a:r>
                      <a:endParaRPr lang="en-GB" dirty="0"/>
                    </a:p>
                  </a:txBody>
                  <a:tcPr/>
                </a:tc>
                <a:tc>
                  <a:txBody>
                    <a:bodyPr/>
                    <a:lstStyle/>
                    <a:p>
                      <a:r>
                        <a:rPr lang="en-GB" dirty="0" smtClean="0"/>
                        <a:t>Clothing</a:t>
                      </a:r>
                      <a:endParaRPr lang="en-GB" dirty="0"/>
                    </a:p>
                  </a:txBody>
                  <a:tcPr/>
                </a:tc>
              </a:tr>
              <a:tr h="370840">
                <a:tc>
                  <a:txBody>
                    <a:bodyPr/>
                    <a:lstStyle/>
                    <a:p>
                      <a:r>
                        <a:rPr lang="en-GB" dirty="0" smtClean="0"/>
                        <a:t>1023</a:t>
                      </a:r>
                      <a:endParaRPr lang="en-GB" dirty="0"/>
                    </a:p>
                  </a:txBody>
                  <a:tcPr/>
                </a:tc>
                <a:tc>
                  <a:txBody>
                    <a:bodyPr/>
                    <a:lstStyle/>
                    <a:p>
                      <a:pPr marL="0" marR="0" indent="0" algn="l" defTabSz="914088" rtl="0" eaLnBrk="1" fontAlgn="auto" latinLnBrk="0" hangingPunct="1">
                        <a:lnSpc>
                          <a:spcPct val="100000"/>
                        </a:lnSpc>
                        <a:spcBef>
                          <a:spcPts val="0"/>
                        </a:spcBef>
                        <a:spcAft>
                          <a:spcPts val="0"/>
                        </a:spcAft>
                        <a:buClrTx/>
                        <a:buSzTx/>
                        <a:buFontTx/>
                        <a:buNone/>
                        <a:tabLst/>
                        <a:defRPr/>
                      </a:pPr>
                      <a:r>
                        <a:rPr lang="en-GB" dirty="0" smtClean="0"/>
                        <a:t>1078.75</a:t>
                      </a:r>
                    </a:p>
                  </a:txBody>
                  <a:tcPr/>
                </a:tc>
                <a:tc>
                  <a:txBody>
                    <a:bodyPr/>
                    <a:lstStyle/>
                    <a:p>
                      <a:r>
                        <a:rPr lang="en-GB" dirty="0" smtClean="0"/>
                        <a:t>176.90</a:t>
                      </a:r>
                      <a:endParaRPr lang="en-GB" dirty="0"/>
                    </a:p>
                  </a:txBody>
                  <a:tcPr/>
                </a:tc>
                <a:tc>
                  <a:txBody>
                    <a:bodyPr/>
                    <a:lstStyle/>
                    <a:p>
                      <a:r>
                        <a:rPr lang="en-GB" i="1" dirty="0" smtClean="0">
                          <a:solidFill>
                            <a:schemeClr val="bg1">
                              <a:lumMod val="50000"/>
                            </a:schemeClr>
                          </a:solidFill>
                        </a:rPr>
                        <a:t>NULL</a:t>
                      </a:r>
                      <a:endParaRPr lang="en-GB" i="1" dirty="0">
                        <a:solidFill>
                          <a:schemeClr val="bg1">
                            <a:lumMod val="50000"/>
                          </a:schemeClr>
                        </a:solidFill>
                      </a:endParaRPr>
                    </a:p>
                  </a:txBody>
                  <a:tcPr/>
                </a:tc>
              </a:tr>
              <a:tr h="370840">
                <a:tc>
                  <a:txBody>
                    <a:bodyPr/>
                    <a:lstStyle/>
                    <a:p>
                      <a:r>
                        <a:rPr lang="en-GB" dirty="0" smtClean="0"/>
                        <a:t>1024</a:t>
                      </a:r>
                      <a:endParaRPr lang="en-GB" dirty="0"/>
                    </a:p>
                  </a:txBody>
                  <a:tcPr/>
                </a:tc>
                <a:tc>
                  <a:txBody>
                    <a:bodyPr/>
                    <a:lstStyle/>
                    <a:p>
                      <a:r>
                        <a:rPr lang="en-GB" dirty="0" smtClean="0"/>
                        <a:t>2491.00</a:t>
                      </a:r>
                      <a:endParaRPr lang="en-GB" dirty="0"/>
                    </a:p>
                  </a:txBody>
                  <a:tcPr/>
                </a:tc>
                <a:tc>
                  <a:txBody>
                    <a:bodyPr/>
                    <a:lstStyle/>
                    <a:p>
                      <a:r>
                        <a:rPr lang="en-GB" i="1" dirty="0" smtClean="0">
                          <a:solidFill>
                            <a:schemeClr val="bg1">
                              <a:lumMod val="50000"/>
                            </a:schemeClr>
                          </a:solidFill>
                        </a:rPr>
                        <a:t>NULL</a:t>
                      </a:r>
                      <a:endParaRPr lang="en-GB" i="1" dirty="0">
                        <a:solidFill>
                          <a:schemeClr val="bg1">
                            <a:lumMod val="50000"/>
                          </a:schemeClr>
                        </a:solidFill>
                      </a:endParaRPr>
                    </a:p>
                  </a:txBody>
                  <a:tcPr/>
                </a:tc>
                <a:tc>
                  <a:txBody>
                    <a:bodyPr/>
                    <a:lstStyle/>
                    <a:p>
                      <a:r>
                        <a:rPr lang="en-GB" i="1" dirty="0" smtClean="0">
                          <a:solidFill>
                            <a:schemeClr val="bg1">
                              <a:lumMod val="50000"/>
                            </a:schemeClr>
                          </a:solidFill>
                        </a:rPr>
                        <a:t>NULL</a:t>
                      </a:r>
                      <a:endParaRPr lang="en-GB" i="1" dirty="0">
                        <a:solidFill>
                          <a:schemeClr val="bg1">
                            <a:lumMod val="50000"/>
                          </a:schemeClr>
                        </a:solidFill>
                      </a:endParaRPr>
                    </a:p>
                  </a:txBody>
                  <a:tcPr/>
                </a:tc>
              </a:tr>
              <a:tr h="376012">
                <a:tc>
                  <a:txBody>
                    <a:bodyPr/>
                    <a:lstStyle/>
                    <a:p>
                      <a:r>
                        <a:rPr lang="en-GB" dirty="0" smtClean="0"/>
                        <a:t>1025</a:t>
                      </a:r>
                      <a:endParaRPr lang="en-GB" dirty="0"/>
                    </a:p>
                  </a:txBody>
                  <a:tcPr/>
                </a:tc>
                <a:tc>
                  <a:txBody>
                    <a:bodyPr/>
                    <a:lstStyle/>
                    <a:p>
                      <a:r>
                        <a:rPr lang="en-GB" dirty="0" smtClean="0"/>
                        <a:t>1067.49</a:t>
                      </a:r>
                      <a:endParaRPr lang="en-GB" dirty="0"/>
                    </a:p>
                  </a:txBody>
                  <a:tcPr/>
                </a:tc>
                <a:tc>
                  <a:txBody>
                    <a:bodyPr/>
                    <a:lstStyle/>
                    <a:p>
                      <a:r>
                        <a:rPr lang="en-GB" dirty="0" smtClean="0"/>
                        <a:t>125.99</a:t>
                      </a:r>
                      <a:endParaRPr lang="en-GB" dirty="0"/>
                    </a:p>
                  </a:txBody>
                  <a:tcPr/>
                </a:tc>
                <a:tc>
                  <a:txBody>
                    <a:bodyPr/>
                    <a:lstStyle/>
                    <a:p>
                      <a:r>
                        <a:rPr lang="en-GB" dirty="0" smtClean="0"/>
                        <a:t>32.35</a:t>
                      </a:r>
                      <a:endParaRPr lang="en-GB" dirty="0"/>
                    </a:p>
                  </a:txBody>
                  <a:tcPr/>
                </a:tc>
              </a:tr>
            </a:tbl>
          </a:graphicData>
        </a:graphic>
      </p:graphicFrame>
      <p:sp>
        <p:nvSpPr>
          <p:cNvPr id="8" name="Bent-Up Arrow 7"/>
          <p:cNvSpPr/>
          <p:nvPr/>
        </p:nvSpPr>
        <p:spPr>
          <a:xfrm rot="5400000">
            <a:off x="4945488" y="3185515"/>
            <a:ext cx="967667" cy="5816865"/>
          </a:xfrm>
          <a:prstGeom prst="bentUp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GB"/>
          </a:p>
        </p:txBody>
      </p:sp>
      <p:sp>
        <p:nvSpPr>
          <p:cNvPr id="7" name="TextBox 6"/>
          <p:cNvSpPr txBox="1"/>
          <p:nvPr/>
        </p:nvSpPr>
        <p:spPr>
          <a:xfrm>
            <a:off x="954893" y="5689884"/>
            <a:ext cx="6945106" cy="1077218"/>
          </a:xfrm>
          <a:prstGeom prst="rect">
            <a:avLst/>
          </a:prstGeom>
          <a:solidFill>
            <a:schemeClr val="accent1">
              <a:lumMod val="20000"/>
              <a:lumOff val="80000"/>
            </a:schemeClr>
          </a:solidFill>
        </p:spPr>
        <p:txBody>
          <a:bodyPr wrap="none" rtlCol="0">
            <a:spAutoFit/>
          </a:bodyPr>
          <a:lstStyle/>
          <a:p>
            <a:r>
              <a:rPr lang="en-GB" sz="1600" dirty="0" smtClean="0"/>
              <a:t>SELECT </a:t>
            </a:r>
            <a:r>
              <a:rPr lang="en-GB" sz="1600" dirty="0" err="1" smtClean="0"/>
              <a:t>OrderID</a:t>
            </a:r>
            <a:r>
              <a:rPr lang="en-GB" sz="1600" dirty="0" smtClean="0"/>
              <a:t>, Category, Revenue</a:t>
            </a:r>
          </a:p>
          <a:p>
            <a:r>
              <a:rPr lang="en-GB" sz="1600" dirty="0" smtClean="0"/>
              <a:t>FROM</a:t>
            </a:r>
          </a:p>
          <a:p>
            <a:pPr lvl="1"/>
            <a:r>
              <a:rPr lang="en-GB" sz="1600" dirty="0" smtClean="0"/>
              <a:t>(SELECT </a:t>
            </a:r>
            <a:r>
              <a:rPr lang="en-GB" sz="1600" dirty="0" err="1" smtClean="0"/>
              <a:t>OrderID</a:t>
            </a:r>
            <a:r>
              <a:rPr lang="en-GB" sz="1600" dirty="0" smtClean="0"/>
              <a:t>, Bikes, Accessories, Clothing FROM </a:t>
            </a:r>
            <a:r>
              <a:rPr lang="en-GB" sz="1600" dirty="0" err="1" smtClean="0"/>
              <a:t>Sales.SalesByCat</a:t>
            </a:r>
            <a:r>
              <a:rPr lang="en-GB" sz="1600" dirty="0" smtClean="0"/>
              <a:t>) AS </a:t>
            </a:r>
            <a:r>
              <a:rPr lang="en-GB" sz="1600" dirty="0" err="1" smtClean="0"/>
              <a:t>pvt</a:t>
            </a:r>
            <a:endParaRPr lang="en-GB" sz="1600" dirty="0" smtClean="0"/>
          </a:p>
          <a:p>
            <a:r>
              <a:rPr lang="en-GB" sz="1600" b="1" dirty="0" smtClean="0"/>
              <a:t>UNPIVOT (Revenue FOR Category IN([Bikes], [Accessories], [Clothing])) AS </a:t>
            </a:r>
            <a:r>
              <a:rPr lang="en-GB" sz="1600" b="1" dirty="0" err="1" smtClean="0"/>
              <a:t>unpvt</a:t>
            </a:r>
            <a:endParaRPr lang="en-GB" sz="1600" b="1" dirty="0"/>
          </a:p>
        </p:txBody>
      </p:sp>
    </p:spTree>
    <p:extLst>
      <p:ext uri="{BB962C8B-B14F-4D97-AF65-F5344CB8AC3E}">
        <p14:creationId xmlns:p14="http://schemas.microsoft.com/office/powerpoint/2010/main" xmlns="" val="396095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par>
                          <p:cTn id="17" fill="hold">
                            <p:stCondLst>
                              <p:cond delay="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Pivoting and </a:t>
            </a:r>
            <a:r>
              <a:rPr lang="en-GB" dirty="0" err="1" smtClean="0"/>
              <a:t>Unpivoting</a:t>
            </a:r>
            <a:r>
              <a:rPr lang="en-GB" dirty="0" smtClean="0"/>
              <a:t> Data</a:t>
            </a:r>
            <a:endParaRPr lang="en-GB" dirty="0"/>
          </a:p>
        </p:txBody>
      </p:sp>
    </p:spTree>
    <p:extLst>
      <p:ext uri="{BB962C8B-B14F-4D97-AF65-F5344CB8AC3E}">
        <p14:creationId xmlns:p14="http://schemas.microsoft.com/office/powerpoint/2010/main" xmlns="" val="40994164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Grouping Sets</a:t>
            </a:r>
          </a:p>
          <a:p>
            <a:r>
              <a:rPr lang="en-GB" dirty="0" smtClean="0"/>
              <a:t>ROLLUP and CUBE</a:t>
            </a:r>
          </a:p>
          <a:p>
            <a:r>
              <a:rPr lang="en-GB" dirty="0" smtClean="0"/>
              <a:t>Identifying Groupings in Results</a:t>
            </a:r>
          </a:p>
          <a:p>
            <a:r>
              <a:rPr lang="en-GB" dirty="0" smtClean="0"/>
              <a:t>Pivoting Data</a:t>
            </a:r>
          </a:p>
          <a:p>
            <a:r>
              <a:rPr lang="en-GB" dirty="0" err="1" smtClean="0"/>
              <a:t>Unpivoting</a:t>
            </a:r>
            <a:r>
              <a:rPr lang="en-GB" dirty="0" smtClean="0"/>
              <a:t> Data</a:t>
            </a:r>
          </a:p>
          <a:p>
            <a:endParaRPr lang="en-GB" dirty="0"/>
          </a:p>
          <a:p>
            <a:r>
              <a:rPr lang="en-GB" dirty="0" smtClean="0"/>
              <a:t>Lab: </a:t>
            </a:r>
            <a:r>
              <a:rPr lang="en-US" dirty="0"/>
              <a:t>Grouping and Pivoting Data</a:t>
            </a:r>
            <a:endParaRPr lang="en-GB" dirty="0"/>
          </a:p>
        </p:txBody>
      </p:sp>
      <p:sp>
        <p:nvSpPr>
          <p:cNvPr id="2" name="Title 1"/>
          <p:cNvSpPr>
            <a:spLocks noGrp="1"/>
          </p:cNvSpPr>
          <p:nvPr>
            <p:ph type="title"/>
          </p:nvPr>
        </p:nvSpPr>
        <p:spPr/>
        <p:txBody>
          <a:bodyPr/>
          <a:lstStyle/>
          <a:p>
            <a:r>
              <a:rPr lang="en-US" dirty="0" smtClean="0"/>
              <a:t>Grouping and Pivoting Data</a:t>
            </a:r>
            <a:endParaRPr lang="en-US" dirty="0"/>
          </a:p>
        </p:txBody>
      </p:sp>
    </p:spTree>
    <p:extLst>
      <p:ext uri="{BB962C8B-B14F-4D97-AF65-F5344CB8AC3E}">
        <p14:creationId xmlns:p14="http://schemas.microsoft.com/office/powerpoint/2010/main" xmlns="" val="22163252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89836340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E1EDCD"/>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E1EDCD"/>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E1EDCD"/>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odule xmlns="80A71032-C16A-4ACC-83BF-D0F9240327F6">8</Module>
    <Content_x0020_Type xmlns="80A71032-C16A-4ACC-83BF-D0F9240327F6">Slide Presentation</Content_x0020_Type>
    <Status xmlns="80A71032-C16A-4ACC-83BF-D0F9240327F6">Final</Statu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0140C9F36D8864BBD4046C1E339F64D" ma:contentTypeVersion="" ma:contentTypeDescription="Create a new document." ma:contentTypeScope="" ma:versionID="71cb34a51de4ff91df97b9a6e71a60e2">
  <xsd:schema xmlns:xsd="http://www.w3.org/2001/XMLSchema" xmlns:xs="http://www.w3.org/2001/XMLSchema" xmlns:p="http://schemas.microsoft.com/office/2006/metadata/properties" xmlns:ns2="80A71032-C16A-4ACC-83BF-D0F9240327F6" xmlns:ns3="27aa9422-7f1f-4c84-9cdf-302b1a67e513" targetNamespace="http://schemas.microsoft.com/office/2006/metadata/properties" ma:root="true" ma:fieldsID="c01dafa997595310f82b253cc960ff13" ns2:_="" ns3:_="">
    <xsd:import namespace="80A71032-C16A-4ACC-83BF-D0F9240327F6"/>
    <xsd:import namespace="27aa9422-7f1f-4c84-9cdf-302b1a67e513"/>
    <xsd:element name="properties">
      <xsd:complexType>
        <xsd:sequence>
          <xsd:element name="documentManagement">
            <xsd:complexType>
              <xsd:all>
                <xsd:element ref="ns2:Content_x0020_Type"/>
                <xsd:element ref="ns2:Module" minOccurs="0"/>
                <xsd:element ref="ns2:Status"/>
                <xsd:element ref="ns3:SharedWithUsers" minOccurs="0"/>
                <xsd:element ref="ns3:SharingHintHash"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A71032-C16A-4ACC-83BF-D0F9240327F6"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Assessment Policheck"/>
          <xsd:enumeration value="Break Slides"/>
          <xsd:enumeration value="CC File"/>
          <xsd:enumeration value="CC Policheck"/>
          <xsd:enumeration value="Instructor Image"/>
          <xsd:enumeration value="Outline/Meeting Recordings"/>
          <xsd:enumeration value="Slide Presentation"/>
          <xsd:enumeration value="Slide Presentation Policheck"/>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27aa9422-7f1f-4c84-9cdf-302b1a67e513"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2" nillable="true" ma:displayName="Sharing Hint Hash" ma:internalName="SharingHintHash" ma:readOnly="true">
      <xsd:simpleType>
        <xsd:restriction base="dms:Text"/>
      </xsd:simple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62D85CB-3760-430B-84DF-A1A78877311B}">
  <ds:schemaRefs>
    <ds:schemaRef ds:uri="http://schemas.microsoft.com/office/2006/metadata/properties"/>
    <ds:schemaRef ds:uri="http://schemas.microsoft.com/office/infopath/2007/PartnerControls"/>
    <ds:schemaRef ds:uri="80A71032-C16A-4ACC-83BF-D0F9240327F6"/>
  </ds:schemaRefs>
</ds:datastoreItem>
</file>

<file path=customXml/itemProps2.xml><?xml version="1.0" encoding="utf-8"?>
<ds:datastoreItem xmlns:ds="http://schemas.openxmlformats.org/officeDocument/2006/customXml" ds:itemID="{2D9A37A4-4E80-4734-9F18-66840B7A38C8}">
  <ds:schemaRefs>
    <ds:schemaRef ds:uri="http://schemas.microsoft.com/sharepoint/v3/contenttype/forms"/>
  </ds:schemaRefs>
</ds:datastoreItem>
</file>

<file path=customXml/itemProps3.xml><?xml version="1.0" encoding="utf-8"?>
<ds:datastoreItem xmlns:ds="http://schemas.openxmlformats.org/officeDocument/2006/customXml" ds:itemID="{F2FFF0DF-DE28-4736-8660-A1702B38C6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0A71032-C16A-4ACC-83BF-D0F9240327F6"/>
    <ds:schemaRef ds:uri="27aa9422-7f1f-4c84-9cdf-302b1a67e5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582</Words>
  <Application>Microsoft Office PowerPoint</Application>
  <PresentationFormat>Vlastní</PresentationFormat>
  <Paragraphs>193</Paragraphs>
  <Slides>12</Slides>
  <Notes>3</Notes>
  <HiddenSlides>0</HiddenSlides>
  <MMClips>0</MMClips>
  <ScaleCrop>false</ScaleCrop>
  <HeadingPairs>
    <vt:vector size="4" baseType="variant">
      <vt:variant>
        <vt:lpstr>Motiv</vt:lpstr>
      </vt:variant>
      <vt:variant>
        <vt:i4>1</vt:i4>
      </vt:variant>
      <vt:variant>
        <vt:lpstr>Nadpisy snímků</vt:lpstr>
      </vt:variant>
      <vt:variant>
        <vt:i4>12</vt:i4>
      </vt:variant>
    </vt:vector>
  </HeadingPairs>
  <TitlesOfParts>
    <vt:vector size="13" baseType="lpstr">
      <vt:lpstr>1_Office Theme</vt:lpstr>
      <vt:lpstr>Snímek 1</vt:lpstr>
      <vt:lpstr>Module Overview</vt:lpstr>
      <vt:lpstr>Grouping Sets Syntax</vt:lpstr>
      <vt:lpstr>Grouping Sets Example</vt:lpstr>
      <vt:lpstr>ROLLUP and CUBE</vt:lpstr>
      <vt:lpstr>Identifying Groupings in Results</vt:lpstr>
      <vt:lpstr>Grouping Sets</vt:lpstr>
      <vt:lpstr>Pivoting Data</vt:lpstr>
      <vt:lpstr>Unpivoting Data</vt:lpstr>
      <vt:lpstr>Pivoting and Unpivoting Data</vt:lpstr>
      <vt:lpstr>Grouping and Pivoting Data</vt:lpstr>
      <vt:lpstr>Snímek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2015-01-29T20:03:05Z</dcterms:created>
  <dcterms:modified xsi:type="dcterms:W3CDTF">2015-06-03T09:40:36Z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0x010100D0140C9F36D8864BBD4046C1E339F64D</vt:lpwstr>
  </property>
</Properties>
</file>